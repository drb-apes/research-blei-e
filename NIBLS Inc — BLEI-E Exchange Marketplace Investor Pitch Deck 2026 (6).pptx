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image" Target="../media/image-1-14.png"/><Relationship Id="rId15" Type="http://schemas.openxmlformats.org/officeDocument/2006/relationships/image" Target="../media/image-1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8578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80" y="928390"/>
            <a:ext cx="6715720" cy="421511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780" y="0"/>
            <a:ext cx="557272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6000"/>
                </a:srgbClr>
              </a:gs>
              <a:gs pos="100000">
                <a:srgbClr val="000000">
                  <a:alpha val="6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0" y="950640"/>
            <a:ext cx="1071563" cy="107156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365340" y="2493690"/>
            <a:ext cx="137861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00D4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BIOMETRIC EQUITY INDEX</a:t>
            </a:r>
            <a:endParaRPr lang="en-US" sz="560" dirty="0"/>
          </a:p>
        </p:txBody>
      </p:sp>
      <p:sp>
        <p:nvSpPr>
          <p:cNvPr id="11" name="Text 4"/>
          <p:cNvSpPr/>
          <p:nvPr/>
        </p:nvSpPr>
        <p:spPr>
          <a:xfrm>
            <a:off x="7552432" y="2714699"/>
            <a:ext cx="1191518" cy="283815"/>
          </a:xfrm>
          <a:prstGeom prst="roundRect">
            <a:avLst>
              <a:gd name="adj" fmla="val 1521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7662267" y="2834953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7762577" y="2803252"/>
            <a:ext cx="564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HRV SIGNAL</a:t>
            </a:r>
            <a:endParaRPr lang="en-US" sz="560" dirty="0"/>
          </a:p>
        </p:txBody>
      </p:sp>
      <p:sp>
        <p:nvSpPr>
          <p:cNvPr id="14" name="Text 7"/>
          <p:cNvSpPr/>
          <p:nvPr/>
        </p:nvSpPr>
        <p:spPr>
          <a:xfrm>
            <a:off x="8332589" y="2781374"/>
            <a:ext cx="33167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 ms</a:t>
            </a:r>
            <a:endParaRPr lang="en-US" sz="790" dirty="0"/>
          </a:p>
        </p:txBody>
      </p:sp>
      <p:sp>
        <p:nvSpPr>
          <p:cNvPr id="15" name="Text 8"/>
          <p:cNvSpPr/>
          <p:nvPr/>
        </p:nvSpPr>
        <p:spPr>
          <a:xfrm>
            <a:off x="7612707" y="3112815"/>
            <a:ext cx="1131243" cy="283815"/>
          </a:xfrm>
          <a:prstGeom prst="roundRect">
            <a:avLst>
              <a:gd name="adj" fmla="val 1521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7722543" y="3233068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43180" dist="50800" dir="16200000">
              <a:srgbClr val="22c55e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7822853" y="3201367"/>
            <a:ext cx="564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BLEI SCORE</a:t>
            </a:r>
            <a:endParaRPr lang="en-US" sz="560" dirty="0"/>
          </a:p>
        </p:txBody>
      </p:sp>
      <p:sp>
        <p:nvSpPr>
          <p:cNvPr id="18" name="Text 11"/>
          <p:cNvSpPr/>
          <p:nvPr/>
        </p:nvSpPr>
        <p:spPr>
          <a:xfrm>
            <a:off x="8392864" y="3179490"/>
            <a:ext cx="26537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98.4</a:t>
            </a:r>
            <a:endParaRPr lang="en-US" sz="790" dirty="0"/>
          </a:p>
        </p:txBody>
      </p:sp>
      <p:sp>
        <p:nvSpPr>
          <p:cNvPr id="19" name="Text 12"/>
          <p:cNvSpPr/>
          <p:nvPr/>
        </p:nvSpPr>
        <p:spPr>
          <a:xfrm>
            <a:off x="7552432" y="3510930"/>
            <a:ext cx="1191518" cy="283815"/>
          </a:xfrm>
          <a:prstGeom prst="roundRect">
            <a:avLst>
              <a:gd name="adj" fmla="val 1521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7662267" y="3631183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43180" dist="50800" dir="16200000">
              <a:srgbClr val="f59e0b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7762577" y="3599483"/>
            <a:ext cx="564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DBBI YIELD</a:t>
            </a:r>
            <a:endParaRPr lang="en-US" sz="560" dirty="0"/>
          </a:p>
        </p:txBody>
      </p:sp>
      <p:sp>
        <p:nvSpPr>
          <p:cNvPr id="22" name="Text 15"/>
          <p:cNvSpPr/>
          <p:nvPr/>
        </p:nvSpPr>
        <p:spPr>
          <a:xfrm>
            <a:off x="8332589" y="3577605"/>
            <a:ext cx="33167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6.25%</a:t>
            </a:r>
            <a:endParaRPr lang="en-US" sz="790" dirty="0"/>
          </a:p>
        </p:txBody>
      </p:sp>
      <p:sp>
        <p:nvSpPr>
          <p:cNvPr id="23" name="Text 16"/>
          <p:cNvSpPr/>
          <p:nvPr/>
        </p:nvSpPr>
        <p:spPr>
          <a:xfrm>
            <a:off x="7492008" y="3909045"/>
            <a:ext cx="1251942" cy="283815"/>
          </a:xfrm>
          <a:prstGeom prst="roundRect">
            <a:avLst>
              <a:gd name="adj" fmla="val 1521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7601843" y="4029298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7702153" y="3997598"/>
            <a:ext cx="5641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TET TOKENS</a:t>
            </a:r>
            <a:endParaRPr lang="en-US" sz="560" dirty="0"/>
          </a:p>
        </p:txBody>
      </p:sp>
      <p:sp>
        <p:nvSpPr>
          <p:cNvPr id="26" name="Text 19"/>
          <p:cNvSpPr/>
          <p:nvPr/>
        </p:nvSpPr>
        <p:spPr>
          <a:xfrm>
            <a:off x="8272165" y="3975720"/>
            <a:ext cx="3981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3.7%</a:t>
            </a:r>
            <a:endParaRPr lang="en-US" sz="790" dirty="0"/>
          </a:p>
        </p:txBody>
      </p:sp>
      <p:sp>
        <p:nvSpPr>
          <p:cNvPr id="27" name="Text 20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sx="100000" sy="100000" kx="0" ky="0" algn="bl" rotWithShape="0" blurRad="171450" dist="50800" dir="16200000">
              <a:srgbClr val="00d4ff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D4FF"/>
              </a:gs>
              <a:gs pos="80000">
                <a:srgbClr val="00D4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114300" dist="50800" dir="16200000">
              <a:srgbClr val="00d4ff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685800" y="1373237"/>
            <a:ext cx="285750" cy="13841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57150" dist="50800" dir="16200000">
              <a:srgbClr val="00d4ff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1042541" y="1321147"/>
            <a:ext cx="335689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 INTELLIGENT BLOCKCHAIN LEAGUE SPORT</a:t>
            </a:r>
            <a:endParaRPr lang="en-US" sz="620" dirty="0"/>
          </a:p>
        </p:txBody>
      </p:sp>
      <p:sp>
        <p:nvSpPr>
          <p:cNvPr id="31" name="Text 24"/>
          <p:cNvSpPr/>
          <p:nvPr/>
        </p:nvSpPr>
        <p:spPr>
          <a:xfrm>
            <a:off x="685800" y="1567309"/>
            <a:ext cx="828103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spcAft>
                <a:spcPts val="230"/>
              </a:spcAft>
              <a:buNone/>
            </a:pPr>
            <a:r>
              <a:rPr lang="en-US" sz="5400" b="1" spc="-10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</a:t>
            </a:r>
            <a:pPr algn="l" indent="0" marL="0">
              <a:lnSpc>
                <a:spcPts val="5400"/>
              </a:lnSpc>
              <a:spcAft>
                <a:spcPts val="230"/>
              </a:spcAft>
              <a:buNone/>
            </a:pPr>
            <a:r>
              <a:rPr lang="en-US" sz="5400" spc="-108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pPr algn="l" indent="0" marL="0">
              <a:lnSpc>
                <a:spcPts val="5400"/>
              </a:lnSpc>
              <a:spcAft>
                <a:spcPts val="230"/>
              </a:spcAft>
              <a:buNone/>
            </a:pPr>
            <a:r>
              <a:rPr lang="en-US" sz="5400" spc="-108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5400"/>
              </a:lnSpc>
              <a:spcAft>
                <a:spcPts val="230"/>
              </a:spcAft>
              <a:buNone/>
            </a:pPr>
            <a:r>
              <a:rPr lang="en-US" sz="5400" spc="-108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Inc.</a:t>
            </a:r>
            <a:endParaRPr lang="en-US" sz="5400" dirty="0"/>
          </a:p>
        </p:txBody>
      </p:sp>
      <p:sp>
        <p:nvSpPr>
          <p:cNvPr id="32" name="Text 25"/>
          <p:cNvSpPr/>
          <p:nvPr/>
        </p:nvSpPr>
        <p:spPr>
          <a:xfrm>
            <a:off x="685800" y="2282279"/>
            <a:ext cx="8675370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6"/>
              </a:lnSpc>
              <a:spcAft>
                <a:spcPts val="1580"/>
              </a:spcAft>
              <a:buNone/>
            </a:pPr>
            <a:r>
              <a:rPr lang="en-US" sz="1240" spc="50" kern="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World's First Biometric-Equity Marketplace</a:t>
            </a:r>
            <a:endParaRPr lang="en-US" sz="1240" dirty="0"/>
          </a:p>
        </p:txBody>
      </p:sp>
      <p:sp>
        <p:nvSpPr>
          <p:cNvPr id="33" name="Text 26"/>
          <p:cNvSpPr/>
          <p:nvPr/>
        </p:nvSpPr>
        <p:spPr>
          <a:xfrm>
            <a:off x="685800" y="2703314"/>
            <a:ext cx="3714750" cy="759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50000">
                <a:srgbClr val="00D4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86360" dist="50800" dir="16200000">
              <a:srgbClr val="00d4ff">
                <a:alpha val="3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85800" y="2911525"/>
            <a:ext cx="32693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730" dirty="0"/>
          </a:p>
        </p:txBody>
      </p:sp>
      <p:sp>
        <p:nvSpPr>
          <p:cNvPr id="35" name="Text 28"/>
          <p:cNvSpPr/>
          <p:nvPr/>
        </p:nvSpPr>
        <p:spPr>
          <a:xfrm>
            <a:off x="1083320" y="2930872"/>
            <a:ext cx="7590" cy="100310"/>
          </a:xfrm>
          <a:prstGeom prst="rect">
            <a:avLst/>
          </a:prstGeom>
          <a:solidFill>
            <a:srgbClr val="00D4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1191220" y="2911525"/>
            <a:ext cx="9804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2182862" y="2930872"/>
            <a:ext cx="7590" cy="100310"/>
          </a:xfrm>
          <a:prstGeom prst="rect">
            <a:avLst/>
          </a:prstGeom>
          <a:solidFill>
            <a:srgbClr val="00D4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2290763" y="2911525"/>
            <a:ext cx="49031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EQUITY</a:t>
            </a:r>
            <a:endParaRPr lang="en-US" sz="730" dirty="0"/>
          </a:p>
        </p:txBody>
      </p:sp>
      <p:sp>
        <p:nvSpPr>
          <p:cNvPr id="39" name="Text 32"/>
          <p:cNvSpPr/>
          <p:nvPr/>
        </p:nvSpPr>
        <p:spPr>
          <a:xfrm>
            <a:off x="2836813" y="2930872"/>
            <a:ext cx="7590" cy="100310"/>
          </a:xfrm>
          <a:prstGeom prst="rect">
            <a:avLst/>
          </a:prstGeom>
          <a:solidFill>
            <a:srgbClr val="00D4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2944713" y="2911525"/>
            <a:ext cx="89877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730" dirty="0"/>
          </a:p>
        </p:txBody>
      </p:sp>
      <p:sp>
        <p:nvSpPr>
          <p:cNvPr id="41" name="Text 34"/>
          <p:cNvSpPr/>
          <p:nvPr/>
        </p:nvSpPr>
        <p:spPr>
          <a:xfrm>
            <a:off x="3862090" y="2930872"/>
            <a:ext cx="7590" cy="100310"/>
          </a:xfrm>
          <a:prstGeom prst="rect">
            <a:avLst/>
          </a:prstGeom>
          <a:solidFill>
            <a:srgbClr val="00D4FF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969990" y="2911525"/>
            <a:ext cx="40862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730" dirty="0"/>
          </a:p>
        </p:txBody>
      </p:sp>
      <p:sp>
        <p:nvSpPr>
          <p:cNvPr id="43" name="Text 36"/>
          <p:cNvSpPr/>
          <p:nvPr/>
        </p:nvSpPr>
        <p:spPr>
          <a:xfrm>
            <a:off x="685800" y="3365450"/>
            <a:ext cx="3934123" cy="456902"/>
          </a:xfrm>
          <a:prstGeom prst="roundRect">
            <a:avLst>
              <a:gd name="adj" fmla="val 12508"/>
            </a:avLst>
          </a:prstGeom>
          <a:solidFill>
            <a:srgbClr val="00D4FF">
              <a:alpha val="4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2106067" y="3374975"/>
            <a:ext cx="9525" cy="437852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852785" y="3461296"/>
            <a:ext cx="120540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510" dirty="0"/>
          </a:p>
        </p:txBody>
      </p:sp>
      <p:sp>
        <p:nvSpPr>
          <p:cNvPr id="46" name="Text 39"/>
          <p:cNvSpPr/>
          <p:nvPr/>
        </p:nvSpPr>
        <p:spPr>
          <a:xfrm>
            <a:off x="852785" y="3587502"/>
            <a:ext cx="12054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Dashawn Ramel Bledsoe</a:t>
            </a:r>
            <a:endParaRPr lang="en-US" sz="730" dirty="0"/>
          </a:p>
        </p:txBody>
      </p:sp>
      <p:sp>
        <p:nvSpPr>
          <p:cNvPr id="47" name="Text 40"/>
          <p:cNvSpPr/>
          <p:nvPr/>
        </p:nvSpPr>
        <p:spPr>
          <a:xfrm>
            <a:off x="3234928" y="3374975"/>
            <a:ext cx="9525" cy="437852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2273052" y="3461296"/>
            <a:ext cx="88485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HQ</a:t>
            </a:r>
            <a:endParaRPr lang="en-US" sz="510" dirty="0"/>
          </a:p>
        </p:txBody>
      </p:sp>
      <p:sp>
        <p:nvSpPr>
          <p:cNvPr id="49" name="Text 42"/>
          <p:cNvSpPr/>
          <p:nvPr/>
        </p:nvSpPr>
        <p:spPr>
          <a:xfrm>
            <a:off x="2273052" y="3587502"/>
            <a:ext cx="8848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Queens, New York</a:t>
            </a:r>
            <a:endParaRPr lang="en-US" sz="730" dirty="0"/>
          </a:p>
        </p:txBody>
      </p:sp>
      <p:sp>
        <p:nvSpPr>
          <p:cNvPr id="50" name="Text 43"/>
          <p:cNvSpPr/>
          <p:nvPr/>
        </p:nvSpPr>
        <p:spPr>
          <a:xfrm>
            <a:off x="3767138" y="3374975"/>
            <a:ext cx="9525" cy="437852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3401913" y="3461296"/>
            <a:ext cx="22854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</a:t>
            </a:r>
            <a:endParaRPr lang="en-US" sz="510" dirty="0"/>
          </a:p>
        </p:txBody>
      </p:sp>
      <p:sp>
        <p:nvSpPr>
          <p:cNvPr id="52" name="Text 45"/>
          <p:cNvSpPr/>
          <p:nvPr/>
        </p:nvSpPr>
        <p:spPr>
          <a:xfrm>
            <a:off x="3401913" y="3587502"/>
            <a:ext cx="2285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730" dirty="0"/>
          </a:p>
        </p:txBody>
      </p:sp>
      <p:sp>
        <p:nvSpPr>
          <p:cNvPr id="53" name="Text 46"/>
          <p:cNvSpPr/>
          <p:nvPr/>
        </p:nvSpPr>
        <p:spPr>
          <a:xfrm>
            <a:off x="3776662" y="3374975"/>
            <a:ext cx="850410" cy="875705"/>
          </a:xfrm>
          <a:prstGeom prst="rect">
            <a:avLst/>
          </a:prstGeom>
          <a:noFill/>
          <a:ln/>
        </p:spPr>
        <p:txBody>
          <a:bodyPr wrap="square" lIns="157480" tIns="86360" rIns="157480" bIns="8636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510" spc="102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
</a:t>
            </a:r>
            <a:pPr algn="l" indent="0" marL="0">
              <a:lnSpc>
                <a:spcPts val="180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82-3957690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8734425" y="4599980"/>
            <a:ext cx="9525" cy="200620"/>
          </a:xfrm>
          <a:prstGeom prst="rect">
            <a:avLst/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0" y="4800600"/>
            <a:ext cx="9144000" cy="9525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8">
            <a:alphaModFix amt="8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257" y="4910444"/>
            <a:ext cx="132588" cy="13258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798463" y="4917728"/>
            <a:ext cx="6766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niblscoin.com</a:t>
            </a:r>
            <a:endParaRPr lang="en-US" sz="62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10">
            <a:alphaModFix amt="8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10627" y="4910444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1754832" y="4917728"/>
            <a:ext cx="18214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github.com/drb-apes/research-blei-e</a:t>
            </a:r>
            <a:endParaRPr lang="en-US" sz="620" dirty="0"/>
          </a:p>
        </p:txBody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07752" y="4910444"/>
            <a:ext cx="132588" cy="13258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3751957" y="4917728"/>
            <a:ext cx="83279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Queens, New York</a:t>
            </a:r>
            <a:endParaRPr lang="en-US" sz="620" dirty="0"/>
          </a:p>
        </p:txBody>
      </p:sp>
      <p:sp>
        <p:nvSpPr>
          <p:cNvPr id="63" name="Text 53"/>
          <p:cNvSpPr/>
          <p:nvPr/>
        </p:nvSpPr>
        <p:spPr>
          <a:xfrm>
            <a:off x="7803654" y="4892278"/>
            <a:ext cx="784223" cy="168920"/>
          </a:xfrm>
          <a:prstGeom prst="roundRect">
            <a:avLst>
              <a:gd name="adj" fmla="val 84958"/>
            </a:avLst>
          </a:prstGeom>
          <a:noFill/>
          <a:ln w="9525">
            <a:solidFill>
              <a:srgbClr val="00D4FF">
                <a:alpha val="25000"/>
              </a:srgbClr>
            </a:solidFill>
          </a:ln>
        </p:spPr>
        <p:txBody>
          <a:bodyPr wrap="none" lIns="182820" tIns="21590" rIns="86360" bIns="21590" rtlCol="0" anchor="ctr"/>
          <a:lstStyle/>
          <a:p>
            <a:pPr algn="l" indent="0" marL="0">
              <a:buNone/>
            </a:pPr>
            <a:r>
              <a:rPr lang="en-US" sz="560" spc="84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 2017</a:t>
            </a:r>
            <a:endParaRPr lang="en-US" sz="560" dirty="0"/>
          </a:p>
        </p:txBody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59845" y="4910370"/>
            <a:ext cx="132588" cy="13258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571500" y="198686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5"/>
          <p:cNvSpPr/>
          <p:nvPr/>
        </p:nvSpPr>
        <p:spPr>
          <a:xfrm>
            <a:off x="650081" y="157460"/>
            <a:ext cx="4371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TICKER:</a:t>
            </a:r>
            <a:endParaRPr lang="en-US" sz="620" dirty="0"/>
          </a:p>
        </p:txBody>
      </p:sp>
      <p:sp>
        <p:nvSpPr>
          <p:cNvPr id="67" name="Text 56"/>
          <p:cNvSpPr/>
          <p:nvPr/>
        </p:nvSpPr>
        <p:spPr>
          <a:xfrm>
            <a:off x="1090613" y="157460"/>
            <a:ext cx="3121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NIBLS</a:t>
            </a:r>
            <a:endParaRPr lang="en-US" sz="620" dirty="0"/>
          </a:p>
        </p:txBody>
      </p:sp>
      <p:sp>
        <p:nvSpPr>
          <p:cNvPr id="68" name="Text 57"/>
          <p:cNvSpPr/>
          <p:nvPr/>
        </p:nvSpPr>
        <p:spPr>
          <a:xfrm>
            <a:off x="2018407" y="157460"/>
            <a:ext cx="2498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EIN:</a:t>
            </a:r>
            <a:endParaRPr lang="en-US" sz="620" dirty="0"/>
          </a:p>
        </p:txBody>
      </p:sp>
      <p:sp>
        <p:nvSpPr>
          <p:cNvPr id="69" name="Text 58"/>
          <p:cNvSpPr/>
          <p:nvPr/>
        </p:nvSpPr>
        <p:spPr>
          <a:xfrm>
            <a:off x="2288679" y="157460"/>
            <a:ext cx="6243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82-3957690</a:t>
            </a:r>
            <a:endParaRPr lang="en-US" sz="620" dirty="0"/>
          </a:p>
        </p:txBody>
      </p:sp>
      <p:sp>
        <p:nvSpPr>
          <p:cNvPr id="70" name="Text 59"/>
          <p:cNvSpPr/>
          <p:nvPr/>
        </p:nvSpPr>
        <p:spPr>
          <a:xfrm>
            <a:off x="3500289" y="157460"/>
            <a:ext cx="2498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</a:t>
            </a:r>
            <a:endParaRPr lang="en-US" sz="620" dirty="0"/>
          </a:p>
        </p:txBody>
      </p:sp>
      <p:sp>
        <p:nvSpPr>
          <p:cNvPr id="71" name="Text 60"/>
          <p:cNvSpPr/>
          <p:nvPr/>
        </p:nvSpPr>
        <p:spPr>
          <a:xfrm>
            <a:off x="3770561" y="157460"/>
            <a:ext cx="2498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620" dirty="0"/>
          </a:p>
        </p:txBody>
      </p:sp>
      <p:sp>
        <p:nvSpPr>
          <p:cNvPr id="72" name="Text 61"/>
          <p:cNvSpPr/>
          <p:nvPr/>
        </p:nvSpPr>
        <p:spPr>
          <a:xfrm>
            <a:off x="4641652" y="157460"/>
            <a:ext cx="4371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SECTOR:</a:t>
            </a:r>
            <a:endParaRPr lang="en-US" sz="620" dirty="0"/>
          </a:p>
        </p:txBody>
      </p:sp>
      <p:sp>
        <p:nvSpPr>
          <p:cNvPr id="73" name="Text 62"/>
          <p:cNvSpPr/>
          <p:nvPr/>
        </p:nvSpPr>
        <p:spPr>
          <a:xfrm>
            <a:off x="5082183" y="157460"/>
            <a:ext cx="174826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BIOMETRIC — FINTECH — SPORTS</a:t>
            </a:r>
            <a:endParaRPr lang="en-US" sz="620" dirty="0"/>
          </a:p>
        </p:txBody>
      </p:sp>
      <p:sp>
        <p:nvSpPr>
          <p:cNvPr id="74" name="Text 63"/>
          <p:cNvSpPr/>
          <p:nvPr/>
        </p:nvSpPr>
        <p:spPr>
          <a:xfrm>
            <a:off x="7315498" y="198686"/>
            <a:ext cx="35421" cy="35421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43180" dist="50800" dir="16200000">
              <a:srgbClr val="22c55e">
                <a:alpha val="8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4"/>
          <p:cNvSpPr/>
          <p:nvPr/>
        </p:nvSpPr>
        <p:spPr>
          <a:xfrm>
            <a:off x="7394079" y="157460"/>
            <a:ext cx="99896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 STATUS:</a:t>
            </a:r>
            <a:endParaRPr lang="en-US" sz="620" dirty="0"/>
          </a:p>
        </p:txBody>
      </p:sp>
      <p:sp>
        <p:nvSpPr>
          <p:cNvPr id="76" name="Text 65"/>
          <p:cNvSpPr/>
          <p:nvPr/>
        </p:nvSpPr>
        <p:spPr>
          <a:xfrm>
            <a:off x="8345388" y="157460"/>
            <a:ext cx="2498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0" y="0"/>
            <a:ext cx="3143250" cy="2857500"/>
          </a:xfrm>
          <a:prstGeom prst="rect">
            <a:avLst/>
          </a:pr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999780"/>
            <a:ext cx="2286000" cy="2143720"/>
          </a:xfrm>
          <a:prstGeom prst="rect">
            <a:avLst/>
          </a:prstGeom>
          <a:gradFill rotWithShape="1">
            <a:gsLst>
              <a:gs pos="0">
                <a:srgbClr val="FF4E6A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1384250"/>
            <a:ext cx="1535163" cy="13841"/>
          </a:xfrm>
          <a:custGeom>
            <a:avLst/>
            <a:gdLst/>
            <a:ahLst/>
            <a:cxnLst/>
            <a:rect l="l" t="t" r="r" b="b"/>
            <a:pathLst>
              <a:path w="1535163" h="13841">
                <a:moveTo>
                  <a:pt x="71120" y="0"/>
                </a:moveTo>
                <a:lnTo>
                  <a:pt x="1464043" y="0"/>
                </a:lnTo>
                <a:lnTo>
                  <a:pt x="1479635" y="1730"/>
                </a:lnTo>
                <a:lnTo>
                  <a:pt x="1485957" y="3460"/>
                </a:lnTo>
                <a:lnTo>
                  <a:pt x="1490714" y="5190"/>
                </a:lnTo>
                <a:lnTo>
                  <a:pt x="1494645" y="6920"/>
                </a:lnTo>
                <a:lnTo>
                  <a:pt x="1498038" y="8651"/>
                </a:lnTo>
                <a:lnTo>
                  <a:pt x="1501041" y="10381"/>
                </a:lnTo>
                <a:lnTo>
                  <a:pt x="1503742" y="12111"/>
                </a:lnTo>
                <a:lnTo>
                  <a:pt x="1506200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384250"/>
            <a:ext cx="1535163" cy="3262160"/>
          </a:xfrm>
          <a:prstGeom prst="roundRect">
            <a:avLst>
              <a:gd name="adj" fmla="val 4633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78397" y="1384250"/>
            <a:ext cx="1535163" cy="13841"/>
          </a:xfrm>
          <a:custGeom>
            <a:avLst/>
            <a:gdLst/>
            <a:ahLst/>
            <a:cxnLst/>
            <a:rect l="l" t="t" r="r" b="b"/>
            <a:pathLst>
              <a:path w="1535163" h="13841">
                <a:moveTo>
                  <a:pt x="71120" y="0"/>
                </a:moveTo>
                <a:lnTo>
                  <a:pt x="1464043" y="0"/>
                </a:lnTo>
                <a:lnTo>
                  <a:pt x="1479635" y="1730"/>
                </a:lnTo>
                <a:lnTo>
                  <a:pt x="1485957" y="3460"/>
                </a:lnTo>
                <a:lnTo>
                  <a:pt x="1490714" y="5190"/>
                </a:lnTo>
                <a:lnTo>
                  <a:pt x="1494645" y="6920"/>
                </a:lnTo>
                <a:lnTo>
                  <a:pt x="1498038" y="8651"/>
                </a:lnTo>
                <a:lnTo>
                  <a:pt x="1501041" y="10381"/>
                </a:lnTo>
                <a:lnTo>
                  <a:pt x="1503742" y="12111"/>
                </a:lnTo>
                <a:lnTo>
                  <a:pt x="1506200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8397" y="1384250"/>
            <a:ext cx="1535163" cy="3262160"/>
          </a:xfrm>
          <a:prstGeom prst="roundRect">
            <a:avLst>
              <a:gd name="adj" fmla="val 4633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32920" y="1384250"/>
            <a:ext cx="1535163" cy="13841"/>
          </a:xfrm>
          <a:custGeom>
            <a:avLst/>
            <a:gdLst/>
            <a:ahLst/>
            <a:cxnLst/>
            <a:rect l="l" t="t" r="r" b="b"/>
            <a:pathLst>
              <a:path w="1535163" h="13841">
                <a:moveTo>
                  <a:pt x="71120" y="0"/>
                </a:moveTo>
                <a:lnTo>
                  <a:pt x="1464043" y="0"/>
                </a:lnTo>
                <a:lnTo>
                  <a:pt x="1479635" y="1730"/>
                </a:lnTo>
                <a:lnTo>
                  <a:pt x="1485957" y="3460"/>
                </a:lnTo>
                <a:lnTo>
                  <a:pt x="1490714" y="5190"/>
                </a:lnTo>
                <a:lnTo>
                  <a:pt x="1494645" y="6920"/>
                </a:lnTo>
                <a:lnTo>
                  <a:pt x="1498038" y="8651"/>
                </a:lnTo>
                <a:lnTo>
                  <a:pt x="1501041" y="10381"/>
                </a:lnTo>
                <a:lnTo>
                  <a:pt x="1503742" y="12111"/>
                </a:lnTo>
                <a:lnTo>
                  <a:pt x="1506200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32920" y="1384250"/>
            <a:ext cx="1535163" cy="3262160"/>
          </a:xfrm>
          <a:prstGeom prst="roundRect">
            <a:avLst>
              <a:gd name="adj" fmla="val 4633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7442" y="1384250"/>
            <a:ext cx="1535163" cy="13841"/>
          </a:xfrm>
          <a:custGeom>
            <a:avLst/>
            <a:gdLst/>
            <a:ahLst/>
            <a:cxnLst/>
            <a:rect l="l" t="t" r="r" b="b"/>
            <a:pathLst>
              <a:path w="1535163" h="13841">
                <a:moveTo>
                  <a:pt x="71120" y="0"/>
                </a:moveTo>
                <a:lnTo>
                  <a:pt x="1464043" y="0"/>
                </a:lnTo>
                <a:lnTo>
                  <a:pt x="1479635" y="1730"/>
                </a:lnTo>
                <a:lnTo>
                  <a:pt x="1485957" y="3460"/>
                </a:lnTo>
                <a:lnTo>
                  <a:pt x="1490714" y="5190"/>
                </a:lnTo>
                <a:lnTo>
                  <a:pt x="1494645" y="6920"/>
                </a:lnTo>
                <a:lnTo>
                  <a:pt x="1498038" y="8651"/>
                </a:lnTo>
                <a:lnTo>
                  <a:pt x="1501041" y="10381"/>
                </a:lnTo>
                <a:lnTo>
                  <a:pt x="1503742" y="12111"/>
                </a:lnTo>
                <a:lnTo>
                  <a:pt x="1506200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7442" y="1384250"/>
            <a:ext cx="1535163" cy="3262160"/>
          </a:xfrm>
          <a:prstGeom prst="roundRect">
            <a:avLst>
              <a:gd name="adj" fmla="val 4633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41964" y="1384250"/>
            <a:ext cx="1535316" cy="13841"/>
          </a:xfrm>
          <a:custGeom>
            <a:avLst/>
            <a:gdLst/>
            <a:ahLst/>
            <a:cxnLst/>
            <a:rect l="l" t="t" r="r" b="b"/>
            <a:pathLst>
              <a:path w="1535316" h="13841">
                <a:moveTo>
                  <a:pt x="71120" y="0"/>
                </a:moveTo>
                <a:lnTo>
                  <a:pt x="1464196" y="0"/>
                </a:lnTo>
                <a:lnTo>
                  <a:pt x="1479787" y="1730"/>
                </a:lnTo>
                <a:lnTo>
                  <a:pt x="1486109" y="3460"/>
                </a:lnTo>
                <a:lnTo>
                  <a:pt x="1490867" y="5190"/>
                </a:lnTo>
                <a:lnTo>
                  <a:pt x="1494798" y="6920"/>
                </a:lnTo>
                <a:lnTo>
                  <a:pt x="1498190" y="8651"/>
                </a:lnTo>
                <a:lnTo>
                  <a:pt x="1501193" y="10381"/>
                </a:lnTo>
                <a:lnTo>
                  <a:pt x="1503894" y="12111"/>
                </a:lnTo>
                <a:lnTo>
                  <a:pt x="150635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41964" y="1384250"/>
            <a:ext cx="1535316" cy="3262160"/>
          </a:xfrm>
          <a:prstGeom prst="roundRect">
            <a:avLst>
              <a:gd name="adj" fmla="val 4632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377503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00D4FF"/>
          </a:solidFill>
          <a:ln/>
          <a:effectLst>
            <a:outerShdw sx="100000" sy="100000" kx="0" ky="0" algn="bl" rotWithShape="0" blurRad="57150" dist="50800" dir="16200000">
              <a:srgbClr val="00d4ff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/>
              </a:gs>
              <a:gs pos="7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2016" y="1760041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963" y="1861989"/>
            <a:ext cx="139005" cy="1390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2016" y="2217241"/>
            <a:ext cx="10187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spc="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Valuations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52016" y="2506414"/>
            <a:ext cx="1304458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values based on lagging revenue metrics, not real-time performance.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2306538" y="1760041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8486" y="1861989"/>
            <a:ext cx="139005" cy="13900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306538" y="2217241"/>
            <a:ext cx="13105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spc="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Player Contracts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2306538" y="2506414"/>
            <a:ext cx="1304458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ignore real-time physiological output and NIL volatility.</a:t>
            </a:r>
            <a:endParaRPr lang="en-US" sz="730" dirty="0"/>
          </a:p>
        </p:txBody>
      </p:sp>
      <p:sp>
        <p:nvSpPr>
          <p:cNvPr id="26" name="Text 22"/>
          <p:cNvSpPr/>
          <p:nvPr/>
        </p:nvSpPr>
        <p:spPr>
          <a:xfrm>
            <a:off x="3961061" y="1760041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3008" y="1861989"/>
            <a:ext cx="139005" cy="13900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961061" y="2217241"/>
            <a:ext cx="130445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spc="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Unmonetized Athletic Output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3961061" y="2639764"/>
            <a:ext cx="1304458" cy="58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Variability, speed, power, and endurance generate zero market value today.</a:t>
            </a:r>
            <a:endParaRPr lang="en-US" sz="730" dirty="0"/>
          </a:p>
        </p:txBody>
      </p:sp>
      <p:sp>
        <p:nvSpPr>
          <p:cNvPr id="30" name="Text 25"/>
          <p:cNvSpPr/>
          <p:nvPr/>
        </p:nvSpPr>
        <p:spPr>
          <a:xfrm>
            <a:off x="5615583" y="1760041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7530" y="1861989"/>
            <a:ext cx="139005" cy="13900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15583" y="2217241"/>
            <a:ext cx="130445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spc="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Revenue Pillars</a:t>
            </a:r>
            <a:endParaRPr lang="en-US" sz="840" dirty="0"/>
          </a:p>
        </p:txBody>
      </p:sp>
      <p:sp>
        <p:nvSpPr>
          <p:cNvPr id="33" name="Text 27"/>
          <p:cNvSpPr/>
          <p:nvPr/>
        </p:nvSpPr>
        <p:spPr>
          <a:xfrm>
            <a:off x="5615583" y="2639764"/>
            <a:ext cx="1304458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sales, media rights, and NIL deals operate in silos with no unified financial layer.</a:t>
            </a:r>
            <a:endParaRPr lang="en-US" sz="730" dirty="0"/>
          </a:p>
        </p:txBody>
      </p:sp>
      <p:sp>
        <p:nvSpPr>
          <p:cNvPr id="34" name="Text 28"/>
          <p:cNvSpPr/>
          <p:nvPr/>
        </p:nvSpPr>
        <p:spPr>
          <a:xfrm>
            <a:off x="7270105" y="1760041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72052" y="1861989"/>
            <a:ext cx="139005" cy="1390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70105" y="2217241"/>
            <a:ext cx="8295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40" b="1" spc="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Gap</a:t>
            </a:r>
            <a:endParaRPr lang="en-US" sz="840" dirty="0"/>
          </a:p>
        </p:txBody>
      </p:sp>
      <p:sp>
        <p:nvSpPr>
          <p:cNvPr id="37" name="Text 30"/>
          <p:cNvSpPr/>
          <p:nvPr/>
        </p:nvSpPr>
        <p:spPr>
          <a:xfrm>
            <a:off x="7270105" y="2506414"/>
            <a:ext cx="1304609" cy="583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athletes and underserved communities locked out of wealth creation pathways in pro sports.</a:t>
            </a:r>
            <a:endParaRPr lang="en-US" sz="730" dirty="0"/>
          </a:p>
        </p:txBody>
      </p:sp>
      <p:sp>
        <p:nvSpPr>
          <p:cNvPr id="38" name="Text 31"/>
          <p:cNvSpPr/>
          <p:nvPr/>
        </p:nvSpPr>
        <p:spPr>
          <a:xfrm>
            <a:off x="785961" y="314920"/>
            <a:ext cx="9431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13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30" dirty="0"/>
          </a:p>
        </p:txBody>
      </p:sp>
      <p:sp>
        <p:nvSpPr>
          <p:cNvPr id="39" name="Text 32"/>
          <p:cNvSpPr/>
          <p:nvPr/>
        </p:nvSpPr>
        <p:spPr>
          <a:xfrm>
            <a:off x="514350" y="497086"/>
            <a:ext cx="874452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360" spc="-24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pPr algn="l" indent="0" marL="0">
              <a:lnSpc>
                <a:spcPts val="2596"/>
              </a:lnSpc>
              <a:buNone/>
            </a:pPr>
            <a:r>
              <a:rPr lang="en-US" sz="2360" b="1" spc="-24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Missing Financial Layer</a:t>
            </a:r>
            <a:pPr algn="l" indent="0" marL="0">
              <a:lnSpc>
                <a:spcPts val="2596"/>
              </a:lnSpc>
              <a:buNone/>
            </a:pPr>
            <a:r>
              <a:rPr lang="en-US" sz="2360" spc="-24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Global Sports</a:t>
            </a:r>
            <a:endParaRPr lang="en-US" sz="2360" dirty="0"/>
          </a:p>
        </p:txBody>
      </p:sp>
      <p:sp>
        <p:nvSpPr>
          <p:cNvPr id="40" name="Text 33"/>
          <p:cNvSpPr/>
          <p:nvPr/>
        </p:nvSpPr>
        <p:spPr>
          <a:xfrm>
            <a:off x="514350" y="897731"/>
            <a:ext cx="3242221" cy="277862"/>
          </a:xfrm>
          <a:prstGeom prst="roundRect">
            <a:avLst>
              <a:gd name="adj" fmla="val 15540"/>
            </a:avLst>
          </a:prstGeom>
          <a:gradFill rotWithShape="1">
            <a:gsLst>
              <a:gs pos="0">
                <a:srgbClr val="FF4E6A">
                  <a:alpha val="15000"/>
                </a:srgbClr>
              </a:gs>
              <a:gs pos="100000">
                <a:srgbClr val="FF4E6A">
                  <a:alpha val="4000"/>
                </a:srgbClr>
              </a:gs>
            </a:gsLst>
            <a:lin ang="0" scaled="1"/>
          </a:gradFill>
          <a:ln w="9525">
            <a:solidFill>
              <a:srgbClr val="FF4E6A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24185" y="1008013"/>
            <a:ext cx="57150" cy="57150"/>
          </a:xfrm>
          <a:prstGeom prst="ellipse">
            <a:avLst/>
          </a:prstGeom>
          <a:solidFill>
            <a:srgbClr val="FF4E6A"/>
          </a:solidFill>
          <a:ln/>
          <a:effectLst>
            <a:outerShdw sx="100000" sy="100000" kx="0" ky="0" algn="bl" rotWithShape="0" blurRad="71120" dist="50800" dir="16200000">
              <a:srgbClr val="ff4e6a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767655" y="956667"/>
            <a:ext cx="313637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SPORTS MONETIZATION IS BROKEN.</a:t>
            </a:r>
            <a:endParaRPr lang="en-US" sz="840" dirty="0"/>
          </a:p>
        </p:txBody>
      </p:sp>
      <p:sp>
        <p:nvSpPr>
          <p:cNvPr id="43" name="Text 36"/>
          <p:cNvSpPr/>
          <p:nvPr/>
        </p:nvSpPr>
        <p:spPr>
          <a:xfrm>
            <a:off x="514350" y="1374725"/>
            <a:ext cx="1554212" cy="3281214"/>
          </a:xfrm>
          <a:prstGeom prst="roundRect">
            <a:avLst>
              <a:gd name="adj" fmla="val 457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630">
                  <a:alpha val="90000"/>
                </a:srgbClr>
              </a:gs>
            </a:gsLst>
            <a:lin ang="4200000" scaled="1"/>
          </a:gradFill>
          <a:ln w="9525">
            <a:solidFill>
              <a:srgbClr val="00D4FF">
                <a:alpha val="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652016" y="1541711"/>
            <a:ext cx="1222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93" kern="0" dirty="0">
                <a:solidFill>
                  <a:srgbClr val="00D4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45" name="Text 38"/>
          <p:cNvSpPr/>
          <p:nvPr/>
        </p:nvSpPr>
        <p:spPr>
          <a:xfrm>
            <a:off x="652016" y="2421582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2168872" y="1374725"/>
            <a:ext cx="1554212" cy="3281214"/>
          </a:xfrm>
          <a:prstGeom prst="roundRect">
            <a:avLst>
              <a:gd name="adj" fmla="val 457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630">
                  <a:alpha val="90000"/>
                </a:srgbClr>
              </a:gs>
            </a:gsLst>
            <a:lin ang="4200000" scaled="1"/>
          </a:gradFill>
          <a:ln w="9525">
            <a:solidFill>
              <a:srgbClr val="00D4FF">
                <a:alpha val="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2306538" y="1541711"/>
            <a:ext cx="1222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93" kern="0" dirty="0">
                <a:solidFill>
                  <a:srgbClr val="00D4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48" name="Text 41"/>
          <p:cNvSpPr/>
          <p:nvPr/>
        </p:nvSpPr>
        <p:spPr>
          <a:xfrm>
            <a:off x="2306538" y="2421582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823395" y="1374725"/>
            <a:ext cx="1554212" cy="3281214"/>
          </a:xfrm>
          <a:prstGeom prst="roundRect">
            <a:avLst>
              <a:gd name="adj" fmla="val 457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630">
                  <a:alpha val="90000"/>
                </a:srgbClr>
              </a:gs>
            </a:gsLst>
            <a:lin ang="4200000" scaled="1"/>
          </a:gradFill>
          <a:ln w="9525">
            <a:solidFill>
              <a:srgbClr val="00D4FF">
                <a:alpha val="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961061" y="1541711"/>
            <a:ext cx="1222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93" kern="0" dirty="0">
                <a:solidFill>
                  <a:srgbClr val="00D4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51" name="Text 44"/>
          <p:cNvSpPr/>
          <p:nvPr/>
        </p:nvSpPr>
        <p:spPr>
          <a:xfrm>
            <a:off x="3961061" y="2554932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5477917" y="1374725"/>
            <a:ext cx="1554212" cy="3281214"/>
          </a:xfrm>
          <a:prstGeom prst="roundRect">
            <a:avLst>
              <a:gd name="adj" fmla="val 457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630">
                  <a:alpha val="90000"/>
                </a:srgbClr>
              </a:gs>
            </a:gsLst>
            <a:lin ang="4200000" scaled="1"/>
          </a:gradFill>
          <a:ln w="9525">
            <a:solidFill>
              <a:srgbClr val="00D4FF">
                <a:alpha val="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5615583" y="1541711"/>
            <a:ext cx="1222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93" kern="0" dirty="0">
                <a:solidFill>
                  <a:srgbClr val="00D4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54" name="Text 47"/>
          <p:cNvSpPr/>
          <p:nvPr/>
        </p:nvSpPr>
        <p:spPr>
          <a:xfrm>
            <a:off x="5615583" y="2554932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7132439" y="1374725"/>
            <a:ext cx="1554361" cy="3281214"/>
          </a:xfrm>
          <a:prstGeom prst="roundRect">
            <a:avLst>
              <a:gd name="adj" fmla="val 4576"/>
            </a:avLst>
          </a:prstGeom>
          <a:gradFill rotWithShape="1">
            <a:gsLst>
              <a:gs pos="0">
                <a:srgbClr val="111827">
                  <a:alpha val="95000"/>
                </a:srgbClr>
              </a:gs>
              <a:gs pos="100000">
                <a:srgbClr val="0D1630">
                  <a:alpha val="90000"/>
                </a:srgbClr>
              </a:gs>
            </a:gsLst>
            <a:lin ang="4200000" scaled="1"/>
          </a:gradFill>
          <a:ln w="9525">
            <a:solidFill>
              <a:srgbClr val="00D4FF">
                <a:alpha val="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7270105" y="1541711"/>
            <a:ext cx="1222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93" kern="0" dirty="0">
                <a:solidFill>
                  <a:srgbClr val="00D4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57" name="Text 50"/>
          <p:cNvSpPr/>
          <p:nvPr/>
        </p:nvSpPr>
        <p:spPr>
          <a:xfrm>
            <a:off x="7270105" y="2421582"/>
            <a:ext cx="2006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514350" y="4756249"/>
            <a:ext cx="289506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0D4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— BIOMETRIC EQUITY MARKETPLACE</a:t>
            </a:r>
            <a:endParaRPr lang="en-US" sz="680" dirty="0"/>
          </a:p>
        </p:txBody>
      </p:sp>
      <p:sp>
        <p:nvSpPr>
          <p:cNvPr id="59" name="Text 52"/>
          <p:cNvSpPr/>
          <p:nvPr/>
        </p:nvSpPr>
        <p:spPr>
          <a:xfrm>
            <a:off x="5721400" y="4756249"/>
            <a:ext cx="326194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00D4FF">
                    <a:alpha val="3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NYSE: NIBLS  |  EIN: 82-3957690  |  niblscoin.com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2765"/>
            <a:ext cx="1857970" cy="1857970"/>
          </a:xfrm>
          <a:prstGeom prst="ellipse">
            <a:avLst/>
          </a:prstGeom>
          <a:gradFill rotWithShape="1">
            <a:gsLst>
              <a:gs pos="0">
                <a:srgbClr val="FF3C3C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8830" y="1642765"/>
            <a:ext cx="1857970" cy="1857970"/>
          </a:xfrm>
          <a:prstGeom prst="ellipse">
            <a:avLst/>
          </a:prstGeom>
          <a:gradFill rotWithShape="1">
            <a:gsLst>
              <a:gs pos="0">
                <a:srgbClr val="00D4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2938" cy="64293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1063" y="4500563"/>
            <a:ext cx="642938" cy="6429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425" y="821085"/>
            <a:ext cx="4010025" cy="13841"/>
          </a:xfrm>
          <a:custGeom>
            <a:avLst/>
            <a:gdLst/>
            <a:ahLst/>
            <a:cxnLst/>
            <a:rect l="l" t="t" r="r" b="b"/>
            <a:pathLst>
              <a:path w="4010025" h="13841">
                <a:moveTo>
                  <a:pt x="114300" y="0"/>
                </a:moveTo>
                <a:lnTo>
                  <a:pt x="3895725" y="0"/>
                </a:lnTo>
                <a:lnTo>
                  <a:pt x="3915537" y="1730"/>
                </a:lnTo>
                <a:lnTo>
                  <a:pt x="3923636" y="3460"/>
                </a:lnTo>
                <a:lnTo>
                  <a:pt x="3929778" y="5190"/>
                </a:lnTo>
                <a:lnTo>
                  <a:pt x="3934893" y="6920"/>
                </a:lnTo>
                <a:lnTo>
                  <a:pt x="3939345" y="8651"/>
                </a:lnTo>
                <a:lnTo>
                  <a:pt x="3943320" y="10381"/>
                </a:lnTo>
                <a:lnTo>
                  <a:pt x="3946929" y="12111"/>
                </a:lnTo>
                <a:lnTo>
                  <a:pt x="3950245" y="13841"/>
                </a:lnTo>
                <a:lnTo>
                  <a:pt x="59780" y="13841"/>
                </a:lnTo>
                <a:lnTo>
                  <a:pt x="63096" y="12111"/>
                </a:lnTo>
                <a:lnTo>
                  <a:pt x="66705" y="10381"/>
                </a:lnTo>
                <a:lnTo>
                  <a:pt x="70680" y="8651"/>
                </a:lnTo>
                <a:lnTo>
                  <a:pt x="75132" y="6920"/>
                </a:lnTo>
                <a:lnTo>
                  <a:pt x="80247" y="5190"/>
                </a:lnTo>
                <a:lnTo>
                  <a:pt x="86389" y="3460"/>
                </a:lnTo>
                <a:lnTo>
                  <a:pt x="9448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F4D4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81550" y="821085"/>
            <a:ext cx="4010025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720" y="228600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spc="23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NIBLS PARADIGM SHIFT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169164" y="401241"/>
            <a:ext cx="8805672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1"/>
              </a:lnSpc>
              <a:buNone/>
            </a:pPr>
            <a:r>
              <a:rPr lang="en-US" sz="1910" b="1" spc="-3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NIBLS:</a:t>
            </a:r>
            <a:pPr algn="ctr" indent="0" marL="0">
              <a:lnSpc>
                <a:spcPts val="2101"/>
              </a:lnSpc>
              <a:buNone/>
            </a:pPr>
            <a:r>
              <a:rPr lang="en-US" sz="1910" spc="-30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Financial Layer Wrapped Around Sports</a:t>
            </a:r>
            <a:endParaRPr lang="en-US" sz="1910" dirty="0"/>
          </a:p>
        </p:txBody>
      </p:sp>
      <p:sp>
        <p:nvSpPr>
          <p:cNvPr id="12" name="Text 8"/>
          <p:cNvSpPr/>
          <p:nvPr/>
        </p:nvSpPr>
        <p:spPr>
          <a:xfrm>
            <a:off x="342900" y="811560"/>
            <a:ext cx="4029075" cy="3214390"/>
          </a:xfrm>
          <a:prstGeom prst="roundRect">
            <a:avLst>
              <a:gd name="adj" fmla="val 3556"/>
            </a:avLst>
          </a:prstGeom>
          <a:gradFill rotWithShape="1">
            <a:gsLst>
              <a:gs pos="0">
                <a:srgbClr val="1A0C0C"/>
              </a:gs>
              <a:gs pos="60000">
                <a:srgbClr val="130A0A"/>
              </a:gs>
              <a:gs pos="100000">
                <a:srgbClr val="0F0909"/>
              </a:gs>
            </a:gsLst>
            <a:lin ang="3300000" scaled="1"/>
          </a:gradFill>
          <a:ln w="9525">
            <a:solidFill>
              <a:srgbClr val="FF4D4D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1025" y="102170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4D4D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031" y="1069711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0616" y="1062930"/>
            <a:ext cx="185320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20" kern="0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Traditional Sports Economy</a:t>
            </a:r>
            <a:endParaRPr lang="en-US" sz="960" dirty="0"/>
          </a:p>
        </p:txBody>
      </p:sp>
      <p:sp>
        <p:nvSpPr>
          <p:cNvPr id="16" name="Text 11"/>
          <p:cNvSpPr/>
          <p:nvPr/>
        </p:nvSpPr>
        <p:spPr>
          <a:xfrm>
            <a:off x="581025" y="1401366"/>
            <a:ext cx="143470" cy="143470"/>
          </a:xfrm>
          <a:prstGeom prst="ellipse">
            <a:avLst/>
          </a:prstGeom>
          <a:solidFill>
            <a:srgbClr val="FF4D4D">
              <a:alpha val="12000"/>
            </a:srgbClr>
          </a:solidFill>
          <a:ln w="9525">
            <a:solidFill>
              <a:srgbClr val="FF4D4D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6466" y="1406807"/>
            <a:ext cx="132588" cy="132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0816" y="1393775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salary structures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compensation untethered from real-time output or market performance</a:t>
            </a:r>
            <a:endParaRPr lang="en-US" sz="930" dirty="0"/>
          </a:p>
        </p:txBody>
      </p:sp>
      <p:sp>
        <p:nvSpPr>
          <p:cNvPr id="19" name="Text 13"/>
          <p:cNvSpPr/>
          <p:nvPr/>
        </p:nvSpPr>
        <p:spPr>
          <a:xfrm>
            <a:off x="581025" y="1958727"/>
            <a:ext cx="143470" cy="143470"/>
          </a:xfrm>
          <a:prstGeom prst="ellipse">
            <a:avLst/>
          </a:prstGeom>
          <a:solidFill>
            <a:srgbClr val="FF4D4D">
              <a:alpha val="12000"/>
            </a:srgbClr>
          </a:solidFill>
          <a:ln w="9525">
            <a:solidFill>
              <a:srgbClr val="FF4D4D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466" y="1964168"/>
            <a:ext cx="132588" cy="132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0816" y="1951137"/>
            <a:ext cx="3120345" cy="32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scouting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Human-bias driven evaluation with no deterministic data backbone</a:t>
            </a:r>
            <a:endParaRPr lang="en-US" sz="930" dirty="0"/>
          </a:p>
        </p:txBody>
      </p:sp>
      <p:sp>
        <p:nvSpPr>
          <p:cNvPr id="22" name="Text 15"/>
          <p:cNvSpPr/>
          <p:nvPr/>
        </p:nvSpPr>
        <p:spPr>
          <a:xfrm>
            <a:off x="581025" y="2370237"/>
            <a:ext cx="143470" cy="143470"/>
          </a:xfrm>
          <a:prstGeom prst="ellipse">
            <a:avLst/>
          </a:prstGeom>
          <a:solidFill>
            <a:srgbClr val="FF4D4D">
              <a:alpha val="12000"/>
            </a:srgbClr>
          </a:solidFill>
          <a:ln w="9525">
            <a:solidFill>
              <a:srgbClr val="FF4D4D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6466" y="2375678"/>
            <a:ext cx="132588" cy="132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0816" y="2362646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biometric securitization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HRV, speed, and endurance data generate zero institutional market value</a:t>
            </a:r>
            <a:endParaRPr lang="en-US" sz="930" dirty="0"/>
          </a:p>
        </p:txBody>
      </p:sp>
      <p:sp>
        <p:nvSpPr>
          <p:cNvPr id="25" name="Text 17"/>
          <p:cNvSpPr/>
          <p:nvPr/>
        </p:nvSpPr>
        <p:spPr>
          <a:xfrm>
            <a:off x="581025" y="2927598"/>
            <a:ext cx="143470" cy="143470"/>
          </a:xfrm>
          <a:prstGeom prst="ellipse">
            <a:avLst/>
          </a:prstGeom>
          <a:solidFill>
            <a:srgbClr val="FF4D4D">
              <a:alpha val="12000"/>
            </a:srgbClr>
          </a:solidFill>
          <a:ln w="9525">
            <a:solidFill>
              <a:srgbClr val="FF4D4D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6466" y="2933039"/>
            <a:ext cx="132588" cy="132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10816" y="2920008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 franchise equity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Valuations are lagging, opaque, and inaccessible to public capital markets</a:t>
            </a:r>
            <a:endParaRPr lang="en-US" sz="930" dirty="0"/>
          </a:p>
        </p:txBody>
      </p:sp>
      <p:sp>
        <p:nvSpPr>
          <p:cNvPr id="28" name="Text 19"/>
          <p:cNvSpPr/>
          <p:nvPr/>
        </p:nvSpPr>
        <p:spPr>
          <a:xfrm>
            <a:off x="4772025" y="811560"/>
            <a:ext cx="4029075" cy="3214390"/>
          </a:xfrm>
          <a:prstGeom prst="rect">
            <a:avLst/>
          </a:prstGeom>
          <a:gradFill rotWithShape="1">
            <a:gsLst>
              <a:gs pos="0">
                <a:srgbClr val="071520"/>
              </a:gs>
              <a:gs pos="60000">
                <a:srgbClr val="051218"/>
              </a:gs>
              <a:gs pos="100000">
                <a:srgbClr val="040F15"/>
              </a:gs>
            </a:gsLst>
            <a:lin ang="3300000" scaled="1"/>
          </a:gra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5010150" y="102170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58156" y="1069711"/>
            <a:ext cx="132588" cy="132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09741" y="1062930"/>
            <a:ext cx="168589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2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NIBLS BLEI-E Ecosystem</a:t>
            </a:r>
            <a:endParaRPr lang="en-US" sz="960" dirty="0"/>
          </a:p>
        </p:txBody>
      </p:sp>
      <p:sp>
        <p:nvSpPr>
          <p:cNvPr id="32" name="Text 22"/>
          <p:cNvSpPr/>
          <p:nvPr/>
        </p:nvSpPr>
        <p:spPr>
          <a:xfrm>
            <a:off x="5010150" y="1401366"/>
            <a:ext cx="143470" cy="14347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591" y="1406807"/>
            <a:ext cx="132588" cy="132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39941" y="1393775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Equities</a:t>
            </a:r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730" b="1" dirty="0">
                <a:solidFill>
                  <a:srgbClr val="7E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(real-time)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HRV, speed, and power telemetry instantly priced as tradable financial instruments</a:t>
            </a:r>
            <a:endParaRPr lang="en-US" sz="930" dirty="0"/>
          </a:p>
        </p:txBody>
      </p:sp>
      <p:sp>
        <p:nvSpPr>
          <p:cNvPr id="35" name="Text 24"/>
          <p:cNvSpPr/>
          <p:nvPr/>
        </p:nvSpPr>
        <p:spPr>
          <a:xfrm>
            <a:off x="5010150" y="1958727"/>
            <a:ext cx="143470" cy="14347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15591" y="1964168"/>
            <a:ext cx="132588" cy="1325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39941" y="1951137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algorithmic valuation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 Factor Engine delivers auditable, bias-free athlete and franchise pricing</a:t>
            </a:r>
            <a:endParaRPr lang="en-US" sz="930" dirty="0"/>
          </a:p>
        </p:txBody>
      </p:sp>
      <p:sp>
        <p:nvSpPr>
          <p:cNvPr id="38" name="Text 26"/>
          <p:cNvSpPr/>
          <p:nvPr/>
        </p:nvSpPr>
        <p:spPr>
          <a:xfrm>
            <a:off x="5010150" y="2516088"/>
            <a:ext cx="143470" cy="14347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15591" y="2521529"/>
            <a:ext cx="132588" cy="1325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239941" y="2508498"/>
            <a:ext cx="3389495" cy="479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Securitized athletic performance</a:t>
            </a:r>
            <a:br/>
            <a:pPr algn="l" indent="0" marL="0">
              <a:lnSpc>
                <a:spcPts val="1302"/>
              </a:lnSpc>
              <a:buNone/>
            </a:pPr>
            <a:r>
              <a:rPr lang="en-US" sz="9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302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output converted to regulated, institutional-grade securities via PEI/DBBI</a:t>
            </a:r>
            <a:endParaRPr lang="en-US" sz="930" dirty="0"/>
          </a:p>
        </p:txBody>
      </p:sp>
      <p:sp>
        <p:nvSpPr>
          <p:cNvPr id="41" name="Text 28"/>
          <p:cNvSpPr/>
          <p:nvPr/>
        </p:nvSpPr>
        <p:spPr>
          <a:xfrm>
            <a:off x="5010150" y="3073450"/>
            <a:ext cx="143470" cy="14347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15591" y="3078891"/>
            <a:ext cx="132588" cy="13258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239941" y="3075384"/>
            <a:ext cx="14476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Tradable Equity Tokens</a:t>
            </a:r>
            <a:endParaRPr lang="en-US" sz="930" dirty="0"/>
          </a:p>
        </p:txBody>
      </p:sp>
      <p:sp>
        <p:nvSpPr>
          <p:cNvPr id="44" name="Text 30"/>
          <p:cNvSpPr/>
          <p:nvPr/>
        </p:nvSpPr>
        <p:spPr>
          <a:xfrm>
            <a:off x="6632079" y="3076724"/>
            <a:ext cx="289173" cy="158800"/>
          </a:xfrm>
          <a:prstGeom prst="roundRect">
            <a:avLst>
              <a:gd name="adj" fmla="val 18394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</a:t>
            </a:r>
            <a:endParaRPr lang="en-US" sz="620" dirty="0"/>
          </a:p>
        </p:txBody>
      </p:sp>
      <p:sp>
        <p:nvSpPr>
          <p:cNvPr id="45" name="Text 31"/>
          <p:cNvSpPr/>
          <p:nvPr/>
        </p:nvSpPr>
        <p:spPr>
          <a:xfrm>
            <a:off x="6975723" y="3076724"/>
            <a:ext cx="267444" cy="158800"/>
          </a:xfrm>
          <a:prstGeom prst="roundRect">
            <a:avLst>
              <a:gd name="adj" fmla="val 18394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</a:t>
            </a:r>
            <a:endParaRPr lang="en-US" sz="620" dirty="0"/>
          </a:p>
        </p:txBody>
      </p:sp>
      <p:sp>
        <p:nvSpPr>
          <p:cNvPr id="46" name="Text 32"/>
          <p:cNvSpPr/>
          <p:nvPr/>
        </p:nvSpPr>
        <p:spPr>
          <a:xfrm>
            <a:off x="5239941" y="3240732"/>
            <a:ext cx="3185925" cy="273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Equity Tokens + Player Equity Instruments — liquid, on-chain, SEC-compliant</a:t>
            </a:r>
            <a:endParaRPr lang="en-US" sz="820" dirty="0"/>
          </a:p>
        </p:txBody>
      </p:sp>
      <p:sp>
        <p:nvSpPr>
          <p:cNvPr id="47" name="Text 33"/>
          <p:cNvSpPr/>
          <p:nvPr/>
        </p:nvSpPr>
        <p:spPr>
          <a:xfrm>
            <a:off x="258318" y="4126260"/>
            <a:ext cx="8627364" cy="407640"/>
          </a:xfrm>
          <a:prstGeom prst="roundRect">
            <a:avLst>
              <a:gd name="adj" fmla="val 21185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100000">
                <a:srgbClr val="00D4FF">
                  <a:alpha val="3000"/>
                </a:srgbClr>
              </a:gs>
            </a:gsLst>
            <a:lin ang="2700000" scaled="1"/>
          </a:gradFill>
          <a:ln w="9525">
            <a:solidFill>
              <a:srgbClr val="00D4FF">
                <a:alpha val="20000"/>
              </a:srgbClr>
            </a:solidFill>
          </a:ln>
          <a:effectLst>
            <a:outerShdw sx="100000" sy="100000" kx="0" ky="0" algn="bl" rotWithShape="0" blurRad="228600" dist="50800" dir="16200000">
              <a:srgbClr val="00d4ff">
                <a:alpha val="7000"/>
              </a:srgbClr>
            </a:outerShdw>
          </a:effectLst>
        </p:spPr>
        <p:txBody>
          <a:bodyPr wrap="none" lIns="342900" tIns="114300" rIns="342900" bIns="11430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does NOT displace franchises.</a:t>
            </a:r>
            <a:pPr algn="ctr" indent="0" marL="0">
              <a:buNone/>
            </a:pPr>
            <a:r>
              <a:rPr lang="en-US" sz="8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wraps around them as the world's first </a:t>
            </a:r>
            <a:pPr algn="ctr" indent="0" marL="0"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financial exchange.</a:t>
            </a:r>
            <a:endParaRPr lang="en-US" sz="840" dirty="0"/>
          </a:p>
        </p:txBody>
      </p:sp>
      <p:sp>
        <p:nvSpPr>
          <p:cNvPr id="48" name="Text 34"/>
          <p:cNvSpPr/>
          <p:nvPr/>
        </p:nvSpPr>
        <p:spPr>
          <a:xfrm>
            <a:off x="352425" y="4135785"/>
            <a:ext cx="84391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35"/>
          <p:cNvSpPr/>
          <p:nvPr/>
        </p:nvSpPr>
        <p:spPr>
          <a:xfrm>
            <a:off x="4565005" y="811560"/>
            <a:ext cx="13841" cy="142116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00D4FF">
                  <a:alpha val="15000"/>
                </a:srgbClr>
              </a:gs>
              <a:gs pos="40000">
                <a:srgbClr val="00D4FF">
                  <a:alpha val="80000"/>
                </a:srgbClr>
              </a:gs>
              <a:gs pos="50000">
                <a:srgbClr val="00D4FF"/>
              </a:gs>
              <a:gs pos="60000">
                <a:srgbClr val="00D4FF">
                  <a:alpha val="80000"/>
                </a:srgbClr>
              </a:gs>
              <a:gs pos="85000">
                <a:srgbClr val="00D4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6"/>
          <p:cNvSpPr/>
          <p:nvPr/>
        </p:nvSpPr>
        <p:spPr>
          <a:xfrm>
            <a:off x="4443115" y="2289870"/>
            <a:ext cx="257770" cy="283547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128270" dist="50800" dir="16200000">
              <a:srgbClr val="00d4ff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spc="6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560" dirty="0"/>
          </a:p>
        </p:txBody>
      </p:sp>
      <p:sp>
        <p:nvSpPr>
          <p:cNvPr id="51" name="Text 37"/>
          <p:cNvSpPr/>
          <p:nvPr/>
        </p:nvSpPr>
        <p:spPr>
          <a:xfrm>
            <a:off x="4565005" y="2604790"/>
            <a:ext cx="13841" cy="142116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00D4FF">
                  <a:alpha val="15000"/>
                </a:srgbClr>
              </a:gs>
              <a:gs pos="40000">
                <a:srgbClr val="00D4FF">
                  <a:alpha val="80000"/>
                </a:srgbClr>
              </a:gs>
              <a:gs pos="50000">
                <a:srgbClr val="00D4FF"/>
              </a:gs>
              <a:gs pos="60000">
                <a:srgbClr val="00D4FF">
                  <a:alpha val="80000"/>
                </a:srgbClr>
              </a:gs>
              <a:gs pos="85000">
                <a:srgbClr val="00D4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0" y="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00D4FF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/>
              </a:gs>
              <a:gs pos="70000">
                <a:srgbClr val="7F5F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900" y="429220"/>
            <a:ext cx="13841" cy="428505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0D4FF">
                  <a:alpha val="50000"/>
                </a:srgbClr>
              </a:gs>
              <a:gs pos="80000">
                <a:srgbClr val="00D4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09252"/>
            <a:ext cx="89896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170" kern="0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ORACLE · TECH+BALL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514350" y="356443"/>
            <a:ext cx="8744522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b="1" spc="-3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Tech+Ball:</a:t>
            </a:r>
            <a:pPr algn="l" indent="0" marL="0">
              <a:lnSpc>
                <a:spcPts val="2101"/>
              </a:lnSpc>
              <a:buNone/>
            </a:pPr>
            <a:r>
              <a:rPr lang="en-US" sz="1910" spc="-30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The Biometric Data Oracle</a:t>
            </a:r>
            <a:endParaRPr lang="en-US" sz="1910" dirty="0"/>
          </a:p>
        </p:txBody>
      </p:sp>
      <p:sp>
        <p:nvSpPr>
          <p:cNvPr id="9" name="Text 7"/>
          <p:cNvSpPr/>
          <p:nvPr/>
        </p:nvSpPr>
        <p:spPr>
          <a:xfrm>
            <a:off x="514350" y="652463"/>
            <a:ext cx="89896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Dashawn Bledsoe  |  Mechanical Engineering by Jeffrey Chen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457200" y="843260"/>
            <a:ext cx="8229600" cy="759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60000">
                <a:srgbClr val="00D4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2685604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05559" y="99491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610195" y="1394966"/>
            <a:ext cx="261757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Biometric Fingerprint Sensor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10195" y="1522958"/>
            <a:ext cx="2427205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Ultra-thin sonic sensor on outer ball layer — identifies athletes in real-time at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1,000Hz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sampling rate. Every catch and pass is cryptographically verified.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29124" y="914400"/>
            <a:ext cx="2685604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77483" y="99491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3382119" y="1394966"/>
            <a:ext cx="261757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Raspberry Pi B+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3382119" y="1522958"/>
            <a:ext cx="2427205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edge computer embedded in ball core. Enables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Bluetooth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connectivity for real-time biometric data transmission to the BLEI-E exchange engine.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01048" y="914400"/>
            <a:ext cx="2685752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49555" y="99491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6154043" y="1394966"/>
            <a:ext cx="261773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GPS + Arduino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154043" y="1522958"/>
            <a:ext cx="2427357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throw distance and field position with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centimeter-level accuracy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Arduino bridges GPS sensor data to the Raspberry Pi for unified telemetry output.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2843510"/>
            <a:ext cx="2685604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05559" y="292402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80" dirty="0"/>
          </a:p>
        </p:txBody>
      </p:sp>
      <p:sp>
        <p:nvSpPr>
          <p:cNvPr id="25" name="Text 23"/>
          <p:cNvSpPr/>
          <p:nvPr/>
        </p:nvSpPr>
        <p:spPr>
          <a:xfrm>
            <a:off x="610195" y="3324076"/>
            <a:ext cx="261757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ADXL 345 Accelerometer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10195" y="3452068"/>
            <a:ext cx="2427205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power, and explosive force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metrics per throw event. Raw g-force data feeds directly into the BLEI-E Factor Engine for performance scoring.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29124" y="2843510"/>
            <a:ext cx="2685604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77483" y="292402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3382119" y="3324076"/>
            <a:ext cx="261757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RGBLCD Display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3382119" y="3452068"/>
            <a:ext cx="2427205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biometric readings rendered on the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surface display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real time — speed, HR, position. Full-color RGB output visible to players, refs, and broadcast cameras.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01048" y="2843510"/>
            <a:ext cx="2685752" cy="1842790"/>
          </a:xfrm>
          <a:prstGeom prst="roundRect">
            <a:avLst>
              <a:gd name="adj" fmla="val 3859"/>
            </a:avLst>
          </a:prstGeom>
          <a:solidFill>
            <a:srgbClr val="141D2E"/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49555" y="2924026"/>
            <a:ext cx="25829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00D4FF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80" dirty="0"/>
          </a:p>
        </p:txBody>
      </p:sp>
      <p:sp>
        <p:nvSpPr>
          <p:cNvPr id="33" name="Text 31"/>
          <p:cNvSpPr/>
          <p:nvPr/>
        </p:nvSpPr>
        <p:spPr>
          <a:xfrm>
            <a:off x="6154043" y="3324076"/>
            <a:ext cx="261773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Heart Rate E-Wallet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154043" y="3452068"/>
            <a:ext cx="2427357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Wristband companion device featuring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quantum-encrypted biometric wallet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touch LCD. Athlete HRV data powers the S-IVI Stadium Index and PEI valuation in real time.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7200" y="4908798"/>
            <a:ext cx="64829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560" dirty="0"/>
          </a:p>
        </p:txBody>
      </p:sp>
      <p:sp>
        <p:nvSpPr>
          <p:cNvPr id="38" name="Text 36"/>
          <p:cNvSpPr/>
          <p:nvPr/>
        </p:nvSpPr>
        <p:spPr>
          <a:xfrm>
            <a:off x="1103709" y="4832747"/>
            <a:ext cx="1322826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7.48 × 7.48 × 7.48 in (31.45 in³)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686348" y="4947642"/>
            <a:ext cx="23961" cy="29170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96059" y="4908798"/>
            <a:ext cx="57511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560" dirty="0"/>
          </a:p>
        </p:txBody>
      </p:sp>
      <p:sp>
        <p:nvSpPr>
          <p:cNvPr id="41" name="Text 39"/>
          <p:cNvSpPr/>
          <p:nvPr/>
        </p:nvSpPr>
        <p:spPr>
          <a:xfrm>
            <a:off x="3576042" y="4832747"/>
            <a:ext cx="1029388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 · NinjaFlex · Silicone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4870996" y="4947642"/>
            <a:ext cx="23961" cy="29170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80707" y="4855518"/>
            <a:ext cx="577920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PROTECTED</a:t>
            </a:r>
            <a:endParaRPr lang="en-US" sz="560" dirty="0"/>
          </a:p>
        </p:txBody>
      </p:sp>
      <p:sp>
        <p:nvSpPr>
          <p:cNvPr id="44" name="Text 42"/>
          <p:cNvSpPr/>
          <p:nvPr/>
        </p:nvSpPr>
        <p:spPr>
          <a:xfrm>
            <a:off x="5804446" y="4832747"/>
            <a:ext cx="1605638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ip.com · NIBLS, Inc. · EIN 82-3957690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7664351" y="4947642"/>
            <a:ext cx="23961" cy="29170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974062" y="4908798"/>
            <a:ext cx="37866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560" dirty="0"/>
          </a:p>
        </p:txBody>
      </p:sp>
      <p:sp>
        <p:nvSpPr>
          <p:cNvPr id="47" name="Text 45"/>
          <p:cNvSpPr/>
          <p:nvPr/>
        </p:nvSpPr>
        <p:spPr>
          <a:xfrm>
            <a:off x="8375452" y="4897487"/>
            <a:ext cx="34248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$NIBLS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466725" y="923925"/>
            <a:ext cx="2666552" cy="13841"/>
          </a:xfrm>
          <a:custGeom>
            <a:avLst/>
            <a:gdLst/>
            <a:ahLst/>
            <a:cxnLst/>
            <a:rect l="l" t="t" r="r" b="b"/>
            <a:pathLst>
              <a:path w="2666552" h="13841">
                <a:moveTo>
                  <a:pt x="71120" y="0"/>
                </a:moveTo>
                <a:lnTo>
                  <a:pt x="2595432" y="0"/>
                </a:lnTo>
                <a:lnTo>
                  <a:pt x="2611024" y="1730"/>
                </a:lnTo>
                <a:lnTo>
                  <a:pt x="2617346" y="3460"/>
                </a:lnTo>
                <a:lnTo>
                  <a:pt x="2622103" y="5190"/>
                </a:lnTo>
                <a:lnTo>
                  <a:pt x="2626034" y="6920"/>
                </a:lnTo>
                <a:lnTo>
                  <a:pt x="2629427" y="8651"/>
                </a:lnTo>
                <a:lnTo>
                  <a:pt x="2632430" y="10381"/>
                </a:lnTo>
                <a:lnTo>
                  <a:pt x="2635131" y="12111"/>
                </a:lnTo>
                <a:lnTo>
                  <a:pt x="26375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633072" y="99504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238649" y="923925"/>
            <a:ext cx="2666552" cy="13841"/>
          </a:xfrm>
          <a:custGeom>
            <a:avLst/>
            <a:gdLst/>
            <a:ahLst/>
            <a:cxnLst/>
            <a:rect l="l" t="t" r="r" b="b"/>
            <a:pathLst>
              <a:path w="2666552" h="13841">
                <a:moveTo>
                  <a:pt x="71120" y="0"/>
                </a:moveTo>
                <a:lnTo>
                  <a:pt x="2595432" y="0"/>
                </a:lnTo>
                <a:lnTo>
                  <a:pt x="2611024" y="1730"/>
                </a:lnTo>
                <a:lnTo>
                  <a:pt x="2617346" y="3460"/>
                </a:lnTo>
                <a:lnTo>
                  <a:pt x="2622103" y="5190"/>
                </a:lnTo>
                <a:lnTo>
                  <a:pt x="2626034" y="6920"/>
                </a:lnTo>
                <a:lnTo>
                  <a:pt x="2629427" y="8651"/>
                </a:lnTo>
                <a:lnTo>
                  <a:pt x="2632430" y="10381"/>
                </a:lnTo>
                <a:lnTo>
                  <a:pt x="2635131" y="12111"/>
                </a:lnTo>
                <a:lnTo>
                  <a:pt x="26375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04996" y="99504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10573" y="923925"/>
            <a:ext cx="2666705" cy="13841"/>
          </a:xfrm>
          <a:custGeom>
            <a:avLst/>
            <a:gdLst/>
            <a:ahLst/>
            <a:cxnLst/>
            <a:rect l="l" t="t" r="r" b="b"/>
            <a:pathLst>
              <a:path w="2666705" h="13841">
                <a:moveTo>
                  <a:pt x="71120" y="0"/>
                </a:moveTo>
                <a:lnTo>
                  <a:pt x="2595585" y="0"/>
                </a:lnTo>
                <a:lnTo>
                  <a:pt x="2611176" y="1730"/>
                </a:lnTo>
                <a:lnTo>
                  <a:pt x="2617498" y="3460"/>
                </a:lnTo>
                <a:lnTo>
                  <a:pt x="2622256" y="5190"/>
                </a:lnTo>
                <a:lnTo>
                  <a:pt x="2626187" y="6920"/>
                </a:lnTo>
                <a:lnTo>
                  <a:pt x="2629579" y="8651"/>
                </a:lnTo>
                <a:lnTo>
                  <a:pt x="2632582" y="10381"/>
                </a:lnTo>
                <a:lnTo>
                  <a:pt x="2635283" y="12111"/>
                </a:lnTo>
                <a:lnTo>
                  <a:pt x="263774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177062" y="99504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66725" y="2853035"/>
            <a:ext cx="2666552" cy="13841"/>
          </a:xfrm>
          <a:custGeom>
            <a:avLst/>
            <a:gdLst/>
            <a:ahLst/>
            <a:cxnLst/>
            <a:rect l="l" t="t" r="r" b="b"/>
            <a:pathLst>
              <a:path w="2666552" h="13841">
                <a:moveTo>
                  <a:pt x="71120" y="0"/>
                </a:moveTo>
                <a:lnTo>
                  <a:pt x="2595432" y="0"/>
                </a:lnTo>
                <a:lnTo>
                  <a:pt x="2611024" y="1730"/>
                </a:lnTo>
                <a:lnTo>
                  <a:pt x="2617346" y="3460"/>
                </a:lnTo>
                <a:lnTo>
                  <a:pt x="2622103" y="5190"/>
                </a:lnTo>
                <a:lnTo>
                  <a:pt x="2626034" y="6920"/>
                </a:lnTo>
                <a:lnTo>
                  <a:pt x="2629427" y="8651"/>
                </a:lnTo>
                <a:lnTo>
                  <a:pt x="2632430" y="10381"/>
                </a:lnTo>
                <a:lnTo>
                  <a:pt x="2635131" y="12111"/>
                </a:lnTo>
                <a:lnTo>
                  <a:pt x="26375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633072" y="292415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238649" y="2853035"/>
            <a:ext cx="2666552" cy="13841"/>
          </a:xfrm>
          <a:custGeom>
            <a:avLst/>
            <a:gdLst/>
            <a:ahLst/>
            <a:cxnLst/>
            <a:rect l="l" t="t" r="r" b="b"/>
            <a:pathLst>
              <a:path w="2666552" h="13841">
                <a:moveTo>
                  <a:pt x="71120" y="0"/>
                </a:moveTo>
                <a:lnTo>
                  <a:pt x="2595432" y="0"/>
                </a:lnTo>
                <a:lnTo>
                  <a:pt x="2611024" y="1730"/>
                </a:lnTo>
                <a:lnTo>
                  <a:pt x="2617346" y="3460"/>
                </a:lnTo>
                <a:lnTo>
                  <a:pt x="2622103" y="5190"/>
                </a:lnTo>
                <a:lnTo>
                  <a:pt x="2626034" y="6920"/>
                </a:lnTo>
                <a:lnTo>
                  <a:pt x="2629427" y="8651"/>
                </a:lnTo>
                <a:lnTo>
                  <a:pt x="2632430" y="10381"/>
                </a:lnTo>
                <a:lnTo>
                  <a:pt x="2635131" y="12111"/>
                </a:lnTo>
                <a:lnTo>
                  <a:pt x="26375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04996" y="292415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10573" y="2853035"/>
            <a:ext cx="2666705" cy="13841"/>
          </a:xfrm>
          <a:custGeom>
            <a:avLst/>
            <a:gdLst/>
            <a:ahLst/>
            <a:cxnLst/>
            <a:rect l="l" t="t" r="r" b="b"/>
            <a:pathLst>
              <a:path w="2666705" h="13841">
                <a:moveTo>
                  <a:pt x="71120" y="0"/>
                </a:moveTo>
                <a:lnTo>
                  <a:pt x="2595585" y="0"/>
                </a:lnTo>
                <a:lnTo>
                  <a:pt x="2611176" y="1730"/>
                </a:lnTo>
                <a:lnTo>
                  <a:pt x="2617498" y="3460"/>
                </a:lnTo>
                <a:lnTo>
                  <a:pt x="2622256" y="5190"/>
                </a:lnTo>
                <a:lnTo>
                  <a:pt x="2626187" y="6920"/>
                </a:lnTo>
                <a:lnTo>
                  <a:pt x="2629579" y="8651"/>
                </a:lnTo>
                <a:lnTo>
                  <a:pt x="2632582" y="10381"/>
                </a:lnTo>
                <a:lnTo>
                  <a:pt x="2635283" y="12111"/>
                </a:lnTo>
                <a:lnTo>
                  <a:pt x="263774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77062" y="2924155"/>
            <a:ext cx="429220" cy="429220"/>
          </a:xfrm>
          <a:prstGeom prst="ellipse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0195" y="105206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702" y="1128573"/>
            <a:ext cx="132588" cy="132588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3382119" y="105206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8626" y="1128573"/>
            <a:ext cx="132588" cy="13258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6154043" y="105206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0550" y="1128573"/>
            <a:ext cx="132588" cy="132588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610195" y="298117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702" y="3057683"/>
            <a:ext cx="132588" cy="132588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3382119" y="298117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58626" y="3057683"/>
            <a:ext cx="132588" cy="132588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6154043" y="298117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0550" y="3057683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15220" cy="2715220"/>
          </a:xfrm>
          <a:prstGeom prst="rect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3000970"/>
            <a:ext cx="2286000" cy="2142530"/>
          </a:xfrm>
          <a:prstGeom prst="rect">
            <a:avLst/>
          </a:prstGeom>
          <a:gradFill rotWithShape="1">
            <a:gsLst>
              <a:gs pos="0">
                <a:srgbClr val="00D4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4495" y="736848"/>
            <a:ext cx="2552405" cy="2124075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66939" y="736848"/>
            <a:ext cx="2552405" cy="2124075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9382" y="736848"/>
            <a:ext cx="2552405" cy="2124075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4495" y="2950964"/>
            <a:ext cx="2552405" cy="2124227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6939" y="2950964"/>
            <a:ext cx="2552405" cy="2124227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9382" y="2950964"/>
            <a:ext cx="2552405" cy="2124227"/>
          </a:xfrm>
          <a:prstGeom prst="roundRect">
            <a:avLst>
              <a:gd name="adj" fmla="val 3348"/>
            </a:avLst>
          </a:prstGeom>
          <a:gradFill rotWithShape="1">
            <a:gsLst>
              <a:gs pos="0">
                <a:srgbClr val="00D4FF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0" y="617488"/>
            <a:ext cx="9144000" cy="9525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070" y="157460"/>
            <a:ext cx="422814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9"/>
              </a:lnSpc>
              <a:buNone/>
            </a:pPr>
            <a:r>
              <a:rPr lang="en-US" sz="1460" spc="44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pPr algn="l" indent="0" marL="0">
              <a:lnSpc>
                <a:spcPts val="1679"/>
              </a:lnSpc>
              <a:buNone/>
            </a:pPr>
            <a:r>
              <a:rPr lang="en-US" sz="1460" b="1" spc="44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BLEI-E</a:t>
            </a:r>
            <a:pPr algn="l" indent="0" marL="0">
              <a:lnSpc>
                <a:spcPts val="1679"/>
              </a:lnSpc>
              <a:buNone/>
            </a:pPr>
            <a:r>
              <a:rPr lang="en-US" sz="1460" spc="44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Six-Layer Exchange Architecture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372070" y="392162"/>
            <a:ext cx="43466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88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BIOMETRICS TO INSTITUTIONAL EQUITY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7304038" y="335756"/>
            <a:ext cx="1497250" cy="195411"/>
          </a:xfrm>
          <a:prstGeom prst="roundRect">
            <a:avLst>
              <a:gd name="adj" fmla="val 73440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620" spc="62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· BLEI-E FRAMEWORK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536525" y="770483"/>
            <a:ext cx="13841" cy="4314230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>
                  <a:alpha val="70000"/>
                </a:srgbClr>
              </a:gs>
              <a:gs pos="100000">
                <a:srgbClr val="00D4FF">
                  <a:alpha val="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 rot="10800000">
            <a:off x="514796" y="5044678"/>
            <a:ext cx="57150" cy="47625"/>
          </a:xfrm>
          <a:prstGeom prst="triangle">
            <a:avLst/>
          </a:prstGeom>
          <a:solidFill>
            <a:srgbClr val="00D4FF">
              <a:alpha val="4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4970" y="727323"/>
            <a:ext cx="2571452" cy="2143125"/>
          </a:xfrm>
          <a:prstGeom prst="roundRect">
            <a:avLst>
              <a:gd name="adj" fmla="val 3319"/>
            </a:avLst>
          </a:prstGeom>
          <a:solidFill>
            <a:srgbClr val="111827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8795" y="844748"/>
            <a:ext cx="257770" cy="283547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0393" y="824666"/>
            <a:ext cx="132588" cy="1325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2886" y="987921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ORACLE</a:t>
            </a:r>
            <a:endParaRPr lang="en-US" sz="530" dirty="0"/>
          </a:p>
        </p:txBody>
      </p:sp>
      <p:sp>
        <p:nvSpPr>
          <p:cNvPr id="22" name="Text 19"/>
          <p:cNvSpPr/>
          <p:nvPr/>
        </p:nvSpPr>
        <p:spPr>
          <a:xfrm>
            <a:off x="1182886" y="1102668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Biometric Capture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182886" y="1263104"/>
            <a:ext cx="201930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Tech+Ball telemetry at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1000Hz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BLEI Wearables + Smart-Gate Fan HRV Sensors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1182886" y="1537841"/>
            <a:ext cx="469255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Tech+Ball</a:t>
            </a:r>
            <a:endParaRPr lang="en-US" sz="560" dirty="0"/>
          </a:p>
        </p:txBody>
      </p:sp>
      <p:sp>
        <p:nvSpPr>
          <p:cNvPr id="25" name="Text 22"/>
          <p:cNvSpPr/>
          <p:nvPr/>
        </p:nvSpPr>
        <p:spPr>
          <a:xfrm>
            <a:off x="1681311" y="1537841"/>
            <a:ext cx="683121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 Wearables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2393603" y="1537841"/>
            <a:ext cx="461218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Gate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3357414" y="727323"/>
            <a:ext cx="2571452" cy="2143125"/>
          </a:xfrm>
          <a:prstGeom prst="roundRect">
            <a:avLst>
              <a:gd name="adj" fmla="val 3319"/>
            </a:avLst>
          </a:prstGeom>
          <a:solidFill>
            <a:srgbClr val="111827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481239" y="844748"/>
            <a:ext cx="257770" cy="283547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9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2837" y="824666"/>
            <a:ext cx="132588" cy="132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825329" y="987921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IVI FRAMEWORK</a:t>
            </a:r>
            <a:endParaRPr lang="en-US" sz="530" dirty="0"/>
          </a:p>
        </p:txBody>
      </p:sp>
      <p:sp>
        <p:nvSpPr>
          <p:cNvPr id="31" name="Text 27"/>
          <p:cNvSpPr/>
          <p:nvPr/>
        </p:nvSpPr>
        <p:spPr>
          <a:xfrm>
            <a:off x="3825329" y="1102668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Intrinsic Value Modeling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3825329" y="1263104"/>
            <a:ext cx="201930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Four-dimension IVI scoring: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B-IVI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performance ·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F-IVI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fatigue ·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N-IVI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NIL ·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S-IVI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stadium</a:t>
            </a:r>
            <a:endParaRPr lang="en-US" sz="650" dirty="0"/>
          </a:p>
        </p:txBody>
      </p:sp>
      <p:sp>
        <p:nvSpPr>
          <p:cNvPr id="33" name="Text 29"/>
          <p:cNvSpPr/>
          <p:nvPr/>
        </p:nvSpPr>
        <p:spPr>
          <a:xfrm>
            <a:off x="3825329" y="1537841"/>
            <a:ext cx="290364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B-IVI</a:t>
            </a:r>
            <a:endParaRPr lang="en-US" sz="560" dirty="0"/>
          </a:p>
        </p:txBody>
      </p:sp>
      <p:sp>
        <p:nvSpPr>
          <p:cNvPr id="34" name="Text 30"/>
          <p:cNvSpPr/>
          <p:nvPr/>
        </p:nvSpPr>
        <p:spPr>
          <a:xfrm>
            <a:off x="4144863" y="1537841"/>
            <a:ext cx="282476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F-IVI</a:t>
            </a:r>
            <a:endParaRPr lang="en-US" sz="560" dirty="0"/>
          </a:p>
        </p:txBody>
      </p:sp>
      <p:sp>
        <p:nvSpPr>
          <p:cNvPr id="35" name="Text 31"/>
          <p:cNvSpPr/>
          <p:nvPr/>
        </p:nvSpPr>
        <p:spPr>
          <a:xfrm>
            <a:off x="4456509" y="1537841"/>
            <a:ext cx="290364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N-IVI</a:t>
            </a:r>
            <a:endParaRPr lang="en-US" sz="560" dirty="0"/>
          </a:p>
        </p:txBody>
      </p:sp>
      <p:sp>
        <p:nvSpPr>
          <p:cNvPr id="36" name="Text 32"/>
          <p:cNvSpPr/>
          <p:nvPr/>
        </p:nvSpPr>
        <p:spPr>
          <a:xfrm>
            <a:off x="4776043" y="1537841"/>
            <a:ext cx="286345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S-IVI</a:t>
            </a:r>
            <a:endParaRPr lang="en-US" sz="560" dirty="0"/>
          </a:p>
        </p:txBody>
      </p:sp>
      <p:sp>
        <p:nvSpPr>
          <p:cNvPr id="37" name="Text 33"/>
          <p:cNvSpPr/>
          <p:nvPr/>
        </p:nvSpPr>
        <p:spPr>
          <a:xfrm>
            <a:off x="5999857" y="727323"/>
            <a:ext cx="2571452" cy="2143125"/>
          </a:xfrm>
          <a:prstGeom prst="roundRect">
            <a:avLst>
              <a:gd name="adj" fmla="val 3319"/>
            </a:avLst>
          </a:prstGeom>
          <a:solidFill>
            <a:srgbClr val="111827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6123682" y="844748"/>
            <a:ext cx="257770" cy="283547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9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5">
            <a:alphaModFix amt="9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5280" y="824666"/>
            <a:ext cx="132588" cy="1325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467773" y="987921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ENGINE</a:t>
            </a:r>
            <a:endParaRPr lang="en-US" sz="530" dirty="0"/>
          </a:p>
        </p:txBody>
      </p:sp>
      <p:sp>
        <p:nvSpPr>
          <p:cNvPr id="41" name="Text 36"/>
          <p:cNvSpPr/>
          <p:nvPr/>
        </p:nvSpPr>
        <p:spPr>
          <a:xfrm>
            <a:off x="6467773" y="1102668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BLEI-E Factor Engine</a:t>
            </a:r>
            <a:endParaRPr lang="en-US" sz="820" dirty="0"/>
          </a:p>
        </p:txBody>
      </p:sp>
      <p:sp>
        <p:nvSpPr>
          <p:cNvPr id="42" name="Text 37"/>
          <p:cNvSpPr/>
          <p:nvPr/>
        </p:nvSpPr>
        <p:spPr>
          <a:xfrm>
            <a:off x="6467773" y="1270843"/>
            <a:ext cx="62865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Perf.</a:t>
            </a:r>
            <a:endParaRPr lang="en-US" sz="510" dirty="0"/>
          </a:p>
        </p:txBody>
      </p:sp>
      <p:sp>
        <p:nvSpPr>
          <p:cNvPr id="43" name="Text 38"/>
          <p:cNvSpPr/>
          <p:nvPr/>
        </p:nvSpPr>
        <p:spPr>
          <a:xfrm>
            <a:off x="7074694" y="1304776"/>
            <a:ext cx="1152079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7074694" y="1304776"/>
            <a:ext cx="46077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D4FF"/>
              </a:gs>
              <a:gs pos="100000">
                <a:srgbClr val="00AAD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8243664" y="1270843"/>
            <a:ext cx="20382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10" dirty="0"/>
          </a:p>
        </p:txBody>
      </p:sp>
      <p:sp>
        <p:nvSpPr>
          <p:cNvPr id="46" name="Text 41"/>
          <p:cNvSpPr/>
          <p:nvPr/>
        </p:nvSpPr>
        <p:spPr>
          <a:xfrm>
            <a:off x="6467773" y="1389459"/>
            <a:ext cx="62865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Fatigue/Injury</a:t>
            </a:r>
            <a:endParaRPr lang="en-US" sz="510" dirty="0"/>
          </a:p>
        </p:txBody>
      </p:sp>
      <p:sp>
        <p:nvSpPr>
          <p:cNvPr id="47" name="Text 42"/>
          <p:cNvSpPr/>
          <p:nvPr/>
        </p:nvSpPr>
        <p:spPr>
          <a:xfrm>
            <a:off x="7074694" y="1423392"/>
            <a:ext cx="1152079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7074694" y="1423392"/>
            <a:ext cx="2879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D4FF">
                  <a:alpha val="60000"/>
                </a:srgbClr>
              </a:gs>
              <a:gs pos="100000">
                <a:srgbClr val="00AADD">
                  <a:alpha val="53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8243664" y="1389459"/>
            <a:ext cx="20382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510" dirty="0"/>
          </a:p>
        </p:txBody>
      </p:sp>
      <p:sp>
        <p:nvSpPr>
          <p:cNvPr id="50" name="Text 45"/>
          <p:cNvSpPr/>
          <p:nvPr/>
        </p:nvSpPr>
        <p:spPr>
          <a:xfrm>
            <a:off x="6467773" y="1508075"/>
            <a:ext cx="62865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</a:t>
            </a:r>
            <a:endParaRPr lang="en-US" sz="510" dirty="0"/>
          </a:p>
        </p:txBody>
      </p:sp>
      <p:sp>
        <p:nvSpPr>
          <p:cNvPr id="51" name="Text 46"/>
          <p:cNvSpPr/>
          <p:nvPr/>
        </p:nvSpPr>
        <p:spPr>
          <a:xfrm>
            <a:off x="7074694" y="1542008"/>
            <a:ext cx="1152079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7074694" y="1542008"/>
            <a:ext cx="2879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D4FF">
                  <a:alpha val="53000"/>
                </a:srgbClr>
              </a:gs>
              <a:gs pos="100000">
                <a:srgbClr val="00AADD">
                  <a:alpha val="47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8243664" y="1508075"/>
            <a:ext cx="20382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510" dirty="0"/>
          </a:p>
        </p:txBody>
      </p:sp>
      <p:sp>
        <p:nvSpPr>
          <p:cNvPr id="54" name="Text 49"/>
          <p:cNvSpPr/>
          <p:nvPr/>
        </p:nvSpPr>
        <p:spPr>
          <a:xfrm>
            <a:off x="6467773" y="1626691"/>
            <a:ext cx="62865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Volatility</a:t>
            </a:r>
            <a:endParaRPr lang="en-US" sz="510" dirty="0"/>
          </a:p>
        </p:txBody>
      </p:sp>
      <p:sp>
        <p:nvSpPr>
          <p:cNvPr id="55" name="Text 50"/>
          <p:cNvSpPr/>
          <p:nvPr/>
        </p:nvSpPr>
        <p:spPr>
          <a:xfrm>
            <a:off x="7074694" y="1660624"/>
            <a:ext cx="1152079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7074694" y="1660624"/>
            <a:ext cx="115193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D4FF">
                  <a:alpha val="33000"/>
                </a:srgbClr>
              </a:gs>
              <a:gs pos="100000">
                <a:srgbClr val="00AADD">
                  <a:alpha val="27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8243664" y="1626691"/>
            <a:ext cx="20382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10" dirty="0"/>
          </a:p>
        </p:txBody>
      </p:sp>
      <p:sp>
        <p:nvSpPr>
          <p:cNvPr id="58" name="Text 53"/>
          <p:cNvSpPr/>
          <p:nvPr/>
        </p:nvSpPr>
        <p:spPr>
          <a:xfrm>
            <a:off x="714970" y="2941439"/>
            <a:ext cx="2571452" cy="2143274"/>
          </a:xfrm>
          <a:prstGeom prst="roundRect">
            <a:avLst>
              <a:gd name="adj" fmla="val 3318"/>
            </a:avLst>
          </a:prstGeom>
          <a:solidFill>
            <a:srgbClr val="111827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4"/>
          <p:cNvSpPr/>
          <p:nvPr/>
        </p:nvSpPr>
        <p:spPr>
          <a:xfrm>
            <a:off x="838795" y="3058864"/>
            <a:ext cx="257770" cy="283547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900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7">
            <a:alphaModFix amt="9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393" y="3038782"/>
            <a:ext cx="132588" cy="13258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182886" y="3202037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STADIUM</a:t>
            </a:r>
            <a:endParaRPr lang="en-US" sz="530" dirty="0"/>
          </a:p>
        </p:txBody>
      </p:sp>
      <p:sp>
        <p:nvSpPr>
          <p:cNvPr id="62" name="Text 56"/>
          <p:cNvSpPr/>
          <p:nvPr/>
        </p:nvSpPr>
        <p:spPr>
          <a:xfrm>
            <a:off x="1182886" y="3316784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Stadium Factors Suite</a:t>
            </a:r>
            <a:endParaRPr lang="en-US" sz="820" dirty="0"/>
          </a:p>
        </p:txBody>
      </p:sp>
      <p:sp>
        <p:nvSpPr>
          <p:cNvPr id="63" name="Text 57"/>
          <p:cNvSpPr/>
          <p:nvPr/>
        </p:nvSpPr>
        <p:spPr>
          <a:xfrm>
            <a:off x="1182886" y="3477220"/>
            <a:ext cx="201930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modules drive venue-based equity valuation signals</a:t>
            </a:r>
            <a:endParaRPr lang="en-US" sz="650" dirty="0"/>
          </a:p>
        </p:txBody>
      </p:sp>
      <p:sp>
        <p:nvSpPr>
          <p:cNvPr id="64" name="Text 58"/>
          <p:cNvSpPr/>
          <p:nvPr/>
        </p:nvSpPr>
        <p:spPr>
          <a:xfrm>
            <a:off x="1182886" y="3751957"/>
            <a:ext cx="575370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560" dirty="0"/>
          </a:p>
        </p:txBody>
      </p:sp>
      <p:sp>
        <p:nvSpPr>
          <p:cNvPr id="65" name="Text 59"/>
          <p:cNvSpPr/>
          <p:nvPr/>
        </p:nvSpPr>
        <p:spPr>
          <a:xfrm>
            <a:off x="1787426" y="3751957"/>
            <a:ext cx="757535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Economics</a:t>
            </a:r>
            <a:endParaRPr lang="en-US" sz="560" dirty="0"/>
          </a:p>
        </p:txBody>
      </p:sp>
      <p:sp>
        <p:nvSpPr>
          <p:cNvPr id="66" name="Text 60"/>
          <p:cNvSpPr/>
          <p:nvPr/>
        </p:nvSpPr>
        <p:spPr>
          <a:xfrm>
            <a:off x="1182886" y="3934569"/>
            <a:ext cx="781348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Stadium</a:t>
            </a:r>
            <a:endParaRPr lang="en-US" sz="560" dirty="0"/>
          </a:p>
        </p:txBody>
      </p:sp>
      <p:sp>
        <p:nvSpPr>
          <p:cNvPr id="67" name="Text 61"/>
          <p:cNvSpPr/>
          <p:nvPr/>
        </p:nvSpPr>
        <p:spPr>
          <a:xfrm>
            <a:off x="1993404" y="3934569"/>
            <a:ext cx="518071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560" dirty="0"/>
          </a:p>
        </p:txBody>
      </p:sp>
      <p:sp>
        <p:nvSpPr>
          <p:cNvPr id="68" name="Text 62"/>
          <p:cNvSpPr/>
          <p:nvPr/>
        </p:nvSpPr>
        <p:spPr>
          <a:xfrm>
            <a:off x="3357414" y="2941439"/>
            <a:ext cx="2571452" cy="2143274"/>
          </a:xfrm>
          <a:prstGeom prst="roundRect">
            <a:avLst>
              <a:gd name="adj" fmla="val 3318"/>
            </a:avLst>
          </a:prstGeom>
          <a:solidFill>
            <a:srgbClr val="111827"/>
          </a:solidFill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3"/>
          <p:cNvSpPr/>
          <p:nvPr/>
        </p:nvSpPr>
        <p:spPr>
          <a:xfrm>
            <a:off x="3481239" y="3058864"/>
            <a:ext cx="257770" cy="283547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50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90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9">
            <a:alphaModFix amt="9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2837" y="3038782"/>
            <a:ext cx="132588" cy="132588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3825329" y="3202037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MARKET</a:t>
            </a:r>
            <a:endParaRPr lang="en-US" sz="530" dirty="0"/>
          </a:p>
        </p:txBody>
      </p:sp>
      <p:sp>
        <p:nvSpPr>
          <p:cNvPr id="72" name="Text 65"/>
          <p:cNvSpPr/>
          <p:nvPr/>
        </p:nvSpPr>
        <p:spPr>
          <a:xfrm>
            <a:off x="3825329" y="3316784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Equity Instruments</a:t>
            </a:r>
            <a:endParaRPr lang="en-US" sz="820" dirty="0"/>
          </a:p>
        </p:txBody>
      </p:sp>
      <p:sp>
        <p:nvSpPr>
          <p:cNvPr id="73" name="Text 66"/>
          <p:cNvSpPr/>
          <p:nvPr/>
        </p:nvSpPr>
        <p:spPr>
          <a:xfrm>
            <a:off x="3825329" y="3477220"/>
            <a:ext cx="201930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Tradable performance-securitized assets issued and settled on-chain</a:t>
            </a:r>
            <a:endParaRPr lang="en-US" sz="650" dirty="0"/>
          </a:p>
        </p:txBody>
      </p:sp>
      <p:sp>
        <p:nvSpPr>
          <p:cNvPr id="74" name="Text 67"/>
          <p:cNvSpPr/>
          <p:nvPr/>
        </p:nvSpPr>
        <p:spPr>
          <a:xfrm>
            <a:off x="3825329" y="3751957"/>
            <a:ext cx="258366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</a:t>
            </a:r>
            <a:endParaRPr lang="en-US" sz="560" dirty="0"/>
          </a:p>
        </p:txBody>
      </p:sp>
      <p:sp>
        <p:nvSpPr>
          <p:cNvPr id="75" name="Text 68"/>
          <p:cNvSpPr/>
          <p:nvPr/>
        </p:nvSpPr>
        <p:spPr>
          <a:xfrm>
            <a:off x="4112865" y="3751957"/>
            <a:ext cx="238720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</a:t>
            </a:r>
            <a:endParaRPr lang="en-US" sz="560" dirty="0"/>
          </a:p>
        </p:txBody>
      </p:sp>
      <p:sp>
        <p:nvSpPr>
          <p:cNvPr id="76" name="Text 69"/>
          <p:cNvSpPr/>
          <p:nvPr/>
        </p:nvSpPr>
        <p:spPr>
          <a:xfrm>
            <a:off x="4380756" y="3751957"/>
            <a:ext cx="238720" cy="168786"/>
          </a:xfrm>
          <a:prstGeom prst="ellipse">
            <a:avLst/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</a:t>
            </a:r>
            <a:endParaRPr lang="en-US" sz="560" dirty="0"/>
          </a:p>
        </p:txBody>
      </p:sp>
      <p:sp>
        <p:nvSpPr>
          <p:cNvPr id="77" name="Text 70"/>
          <p:cNvSpPr/>
          <p:nvPr/>
        </p:nvSpPr>
        <p:spPr>
          <a:xfrm>
            <a:off x="4648646" y="3751957"/>
            <a:ext cx="661690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9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Derivatives</a:t>
            </a:r>
            <a:endParaRPr lang="en-US" sz="560" dirty="0"/>
          </a:p>
        </p:txBody>
      </p:sp>
      <p:sp>
        <p:nvSpPr>
          <p:cNvPr id="78" name="Text 71"/>
          <p:cNvSpPr/>
          <p:nvPr/>
        </p:nvSpPr>
        <p:spPr>
          <a:xfrm>
            <a:off x="5999857" y="2941439"/>
            <a:ext cx="2571452" cy="2143274"/>
          </a:xfrm>
          <a:prstGeom prst="roundRect">
            <a:avLst>
              <a:gd name="adj" fmla="val 3318"/>
            </a:avLst>
          </a:prstGeom>
          <a:gradFill rotWithShape="1">
            <a:gsLst>
              <a:gs pos="0">
                <a:srgbClr val="111C2E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2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2"/>
          <p:cNvSpPr/>
          <p:nvPr/>
        </p:nvSpPr>
        <p:spPr>
          <a:xfrm>
            <a:off x="6123682" y="3058864"/>
            <a:ext cx="257770" cy="283547"/>
          </a:xfrm>
          <a:prstGeom prst="ellipse">
            <a:avLst/>
          </a:prstGeom>
          <a:solidFill>
            <a:srgbClr val="00D4FF">
              <a:alpha val="18000"/>
            </a:srgbClr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14300" dist="50800" dir="16200000">
              <a:srgbClr val="00d4ff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900" dirty="0"/>
          </a:p>
        </p:txBody>
      </p:sp>
      <p:pic>
        <p:nvPicPr>
          <p:cNvPr id="80" name="Image 5" descr="preencoded.png">    </p:cNvPr>
          <p:cNvPicPr>
            <a:picLocks noChangeAspect="1"/>
          </p:cNvPicPr>
          <p:nvPr/>
        </p:nvPicPr>
        <p:blipFill>
          <a:blip r:embed="rId11">
            <a:alphaModFix amt="9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5280" y="3038782"/>
            <a:ext cx="132588" cy="132588"/>
          </a:xfrm>
          <a:prstGeom prst="rect">
            <a:avLst/>
          </a:prstGeom>
        </p:spPr>
      </p:pic>
      <p:sp>
        <p:nvSpPr>
          <p:cNvPr id="81" name="Text 73"/>
          <p:cNvSpPr/>
          <p:nvPr/>
        </p:nvSpPr>
        <p:spPr>
          <a:xfrm>
            <a:off x="6467773" y="3202037"/>
            <a:ext cx="217768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· EXECUTION</a:t>
            </a:r>
            <a:endParaRPr lang="en-US" sz="530" dirty="0"/>
          </a:p>
        </p:txBody>
      </p:sp>
      <p:sp>
        <p:nvSpPr>
          <p:cNvPr id="82" name="Text 74"/>
          <p:cNvSpPr/>
          <p:nvPr/>
        </p:nvSpPr>
        <p:spPr>
          <a:xfrm>
            <a:off x="6467773" y="3316784"/>
            <a:ext cx="217768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DBBI + BIM-APES</a:t>
            </a:r>
            <a:endParaRPr lang="en-US" sz="820" dirty="0"/>
          </a:p>
        </p:txBody>
      </p:sp>
      <p:sp>
        <p:nvSpPr>
          <p:cNvPr id="83" name="Text 75"/>
          <p:cNvSpPr/>
          <p:nvPr/>
        </p:nvSpPr>
        <p:spPr>
          <a:xfrm>
            <a:off x="6467773" y="3477220"/>
            <a:ext cx="2019306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index risk pricing via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DBBI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algorithmic high-frequency execution via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BIM-APES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</a:t>
            </a:r>
            <a:endParaRPr lang="en-US" sz="650" dirty="0"/>
          </a:p>
        </p:txBody>
      </p:sp>
      <p:sp>
        <p:nvSpPr>
          <p:cNvPr id="84" name="Text 76"/>
          <p:cNvSpPr/>
          <p:nvPr/>
        </p:nvSpPr>
        <p:spPr>
          <a:xfrm>
            <a:off x="6467773" y="3751957"/>
            <a:ext cx="517922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16000"/>
            </a:srgbClr>
          </a:solidFill>
          <a:ln w="9525">
            <a:solidFill>
              <a:srgbClr val="00D4FF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DBBI Index</a:t>
            </a:r>
            <a:endParaRPr lang="en-US" sz="560" dirty="0"/>
          </a:p>
        </p:txBody>
      </p:sp>
      <p:sp>
        <p:nvSpPr>
          <p:cNvPr id="85" name="Text 77"/>
          <p:cNvSpPr/>
          <p:nvPr/>
        </p:nvSpPr>
        <p:spPr>
          <a:xfrm>
            <a:off x="7014865" y="3751957"/>
            <a:ext cx="648295" cy="168786"/>
          </a:xfrm>
          <a:prstGeom prst="roundRect">
            <a:avLst>
              <a:gd name="adj" fmla="val 42136"/>
            </a:avLst>
          </a:prstGeom>
          <a:solidFill>
            <a:srgbClr val="00D4FF">
              <a:alpha val="16000"/>
            </a:srgbClr>
          </a:solidFill>
          <a:ln w="9525">
            <a:solidFill>
              <a:srgbClr val="00D4FF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BIM-APES HFT</a:t>
            </a:r>
            <a:endParaRPr lang="en-US" sz="560" dirty="0"/>
          </a:p>
        </p:txBody>
      </p:sp>
      <p:sp>
        <p:nvSpPr>
          <p:cNvPr id="86" name="Text 78"/>
          <p:cNvSpPr/>
          <p:nvPr/>
        </p:nvSpPr>
        <p:spPr>
          <a:xfrm>
            <a:off x="8667750" y="770483"/>
            <a:ext cx="7590" cy="4314230"/>
          </a:xfrm>
          <a:prstGeom prst="roundRect">
            <a:avLst>
              <a:gd name="adj" fmla="val 100395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79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0"/>
          <p:cNvSpPr/>
          <p:nvPr/>
        </p:nvSpPr>
        <p:spPr>
          <a:xfrm>
            <a:off x="0" y="4958209"/>
            <a:ext cx="9144000" cy="18529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1"/>
          <p:cNvSpPr/>
          <p:nvPr/>
        </p:nvSpPr>
        <p:spPr>
          <a:xfrm>
            <a:off x="0" y="4958209"/>
            <a:ext cx="9144000" cy="9525"/>
          </a:xfrm>
          <a:prstGeom prst="rect">
            <a:avLst/>
          </a:prstGeom>
          <a:solidFill>
            <a:srgbClr val="00D4FF">
              <a:alpha val="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2"/>
          <p:cNvSpPr/>
          <p:nvPr/>
        </p:nvSpPr>
        <p:spPr>
          <a:xfrm>
            <a:off x="372070" y="5002262"/>
            <a:ext cx="210188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· EIN 82-3957690 · NIBLSCOIN.COM</a:t>
            </a:r>
            <a:endParaRPr lang="en-US" sz="560" dirty="0"/>
          </a:p>
        </p:txBody>
      </p:sp>
      <p:sp>
        <p:nvSpPr>
          <p:cNvPr id="91" name="Text 83"/>
          <p:cNvSpPr/>
          <p:nvPr/>
        </p:nvSpPr>
        <p:spPr>
          <a:xfrm>
            <a:off x="7149554" y="5002262"/>
            <a:ext cx="178461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00D4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 ARCHITECTURE · CONFIDENTIAL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571750" cy="257175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1470" y="3000970"/>
            <a:ext cx="2142530" cy="214253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5275" y="989261"/>
            <a:ext cx="2124075" cy="21580"/>
          </a:xfrm>
          <a:custGeom>
            <a:avLst/>
            <a:gdLst/>
            <a:ahLst/>
            <a:cxnLst/>
            <a:rect l="l" t="t" r="r" b="b"/>
            <a:pathLst>
              <a:path w="2124075" h="21580">
                <a:moveTo>
                  <a:pt x="100330" y="0"/>
                </a:moveTo>
                <a:lnTo>
                  <a:pt x="2023745" y="0"/>
                </a:lnTo>
                <a:lnTo>
                  <a:pt x="2046854" y="2698"/>
                </a:lnTo>
                <a:lnTo>
                  <a:pt x="2056202" y="5395"/>
                </a:lnTo>
                <a:lnTo>
                  <a:pt x="2063221" y="8093"/>
                </a:lnTo>
                <a:lnTo>
                  <a:pt x="2069008" y="10790"/>
                </a:lnTo>
                <a:lnTo>
                  <a:pt x="2073990" y="13488"/>
                </a:lnTo>
                <a:lnTo>
                  <a:pt x="2078387" y="16185"/>
                </a:lnTo>
                <a:lnTo>
                  <a:pt x="2082332" y="18883"/>
                </a:lnTo>
                <a:lnTo>
                  <a:pt x="208591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28875" y="989261"/>
            <a:ext cx="2133600" cy="2158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989261"/>
            <a:ext cx="2133600" cy="2158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15125" y="989261"/>
            <a:ext cx="2133600" cy="2158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280690"/>
            <a:ext cx="257770" cy="13841"/>
          </a:xfrm>
          <a:prstGeom prst="roundRect">
            <a:avLst>
              <a:gd name="adj" fmla="val 100932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8811" y="228600"/>
            <a:ext cx="19533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 FINANCIAL INSTRUMENTS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400050" y="389781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spc="19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Tradable Biometric </a:t>
            </a:r>
            <a:pPr algn="l" indent="0" marL="0">
              <a:lnSpc>
                <a:spcPts val="2101"/>
              </a:lnSpc>
              <a:buNone/>
            </a:pPr>
            <a:r>
              <a:rPr lang="en-US" sz="1910" b="1" spc="19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Instruments</a:t>
            </a:r>
            <a:endParaRPr lang="en-US" sz="1910" dirty="0"/>
          </a:p>
        </p:txBody>
      </p:sp>
      <p:sp>
        <p:nvSpPr>
          <p:cNvPr id="13" name="Text 11"/>
          <p:cNvSpPr/>
          <p:nvPr/>
        </p:nvSpPr>
        <p:spPr>
          <a:xfrm>
            <a:off x="400050" y="685800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spc="32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Performance-Securitized Asset Class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285750" y="979736"/>
            <a:ext cx="2143125" cy="3785741"/>
          </a:xfrm>
          <a:prstGeom prst="roundRect">
            <a:avLst>
              <a:gd name="adj" fmla="val 4681"/>
            </a:avLst>
          </a:prstGeom>
          <a:solidFill>
            <a:srgbClr val="0D1525"/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5275" y="989261"/>
            <a:ext cx="2124075" cy="114300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1174552"/>
            <a:ext cx="8779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00D4FF"/>
                </a:solidFill>
                <a:effectLst>
                  <a:glow rad="714375">
                    <a:srgbClr val="00D4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TET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725" y="1660922"/>
            <a:ext cx="1816799" cy="159246"/>
          </a:xfrm>
          <a:prstGeom prst="roundRect">
            <a:avLst>
              <a:gd name="adj" fmla="val 1834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10" b="1" spc="7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EQUITY TOKENS</a:t>
            </a:r>
            <a:endParaRPr lang="en-US" sz="510" dirty="0"/>
          </a:p>
        </p:txBody>
      </p:sp>
      <p:sp>
        <p:nvSpPr>
          <p:cNvPr id="18" name="Text 16"/>
          <p:cNvSpPr/>
          <p:nvPr/>
        </p:nvSpPr>
        <p:spPr>
          <a:xfrm>
            <a:off x="466725" y="1891159"/>
            <a:ext cx="1816799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FRANCHISE</a:t>
            </a:r>
            <a:br/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66725" y="2218283"/>
            <a:ext cx="1781175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40000"/>
                </a:srgbClr>
              </a:gs>
              <a:gs pos="100000">
                <a:srgbClr val="00D4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725" y="2326184"/>
            <a:ext cx="1816799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tradable tokens representing live franchise value — continuously repriced by biometric and stadium signals.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466725" y="3667720"/>
            <a:ext cx="1781175" cy="958694"/>
          </a:xfrm>
          <a:prstGeom prst="roundRect">
            <a:avLst>
              <a:gd name="adj" fmla="val 5961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lIns="86360" tIns="71120" rIns="86360" bIns="71120" rtlCol="0" anchor="t"/>
          <a:lstStyle/>
          <a:p>
            <a:pPr algn="l" indent="0" marL="0">
              <a:buNone/>
            </a:pPr>
            <a:r>
              <a:rPr lang="en-US" sz="510" b="1" spc="77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FORMULA</a:t>
            </a:r>
            <a:endParaRPr lang="en-US" sz="510" dirty="0"/>
          </a:p>
          <a:p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Biometric Index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620" dirty="0">
                <a:solidFill>
                  <a:srgbClr val="00D4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Stadium Index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620" dirty="0">
                <a:solidFill>
                  <a:srgbClr val="00D4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NIL Exposure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620" dirty="0">
                <a:solidFill>
                  <a:srgbClr val="00D4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</a:t>
            </a:r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Fatigue Risk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algn="l" indent="0" marL="0">
              <a:buNone/>
            </a:pPr>
            <a:r>
              <a:rPr lang="en-US" sz="620" dirty="0">
                <a:solidFill>
                  <a:srgbClr val="00D4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Fan Velocity Score</a:t>
            </a:r>
            <a:br/>
            <a:pPr algn="l" indent="0" marL="0">
              <a:buNone/>
            </a:pPr>
            <a:r>
              <a:rPr lang="en-US" sz="62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51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3974" y="4130576"/>
            <a:ext cx="481905" cy="48190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428875" y="979736"/>
            <a:ext cx="2143125" cy="3785741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428875" y="989261"/>
            <a:ext cx="2133600" cy="114300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600325" y="1174552"/>
            <a:ext cx="74509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00D4FF"/>
                </a:solidFill>
                <a:effectLst>
                  <a:glow rad="714375">
                    <a:srgbClr val="00D4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PEI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2600325" y="1660922"/>
            <a:ext cx="1826514" cy="159246"/>
          </a:xfrm>
          <a:prstGeom prst="roundRect">
            <a:avLst>
              <a:gd name="adj" fmla="val 1834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10" b="1" spc="7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EQUITY INSTRUMENTS</a:t>
            </a:r>
            <a:endParaRPr lang="en-US" sz="510" dirty="0"/>
          </a:p>
        </p:txBody>
      </p:sp>
      <p:sp>
        <p:nvSpPr>
          <p:cNvPr id="27" name="Text 24"/>
          <p:cNvSpPr/>
          <p:nvPr/>
        </p:nvSpPr>
        <p:spPr>
          <a:xfrm>
            <a:off x="2600325" y="1891159"/>
            <a:ext cx="1826514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TRAJECTORY</a:t>
            </a:r>
            <a:br/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SECURITIZATION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2600325" y="2218283"/>
            <a:ext cx="1790700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40000"/>
                </a:srgbClr>
              </a:gs>
              <a:gs pos="100000">
                <a:srgbClr val="00D4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600325" y="2326184"/>
            <a:ext cx="1826514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goes long on an athlete's entire career arc. Athletes retain majority upside at every stage of performance.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2600325" y="3850779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692896" y="3821609"/>
            <a:ext cx="126990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retain majority upside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2600325" y="4014788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692896" y="3985617"/>
            <a:ext cx="1259265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derivative structure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2600325" y="4178796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692896" y="4149626"/>
            <a:ext cx="1308378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NBPA / NFLPA union compliant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2600325" y="4342805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2692896" y="4313634"/>
            <a:ext cx="124895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at professional signing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2600325" y="4506813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692896" y="4477643"/>
            <a:ext cx="1364694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NFT-credentialed athlete identity</a:t>
            </a:r>
            <a:endParaRPr lang="en-US" sz="68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99" y="4130576"/>
            <a:ext cx="481905" cy="481905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572000" y="979736"/>
            <a:ext cx="2143125" cy="3785741"/>
          </a:xfrm>
          <a:prstGeom prst="rect">
            <a:avLst/>
          </a:prstGeom>
          <a:solidFill>
            <a:srgbClr val="0D152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572000" y="989261"/>
            <a:ext cx="2133600" cy="114300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743450" y="1174552"/>
            <a:ext cx="74509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00D4FF"/>
                </a:solidFill>
                <a:effectLst>
                  <a:glow rad="714375">
                    <a:srgbClr val="00D4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SEI</a:t>
            </a:r>
            <a:endParaRPr lang="en-US" sz="3600" dirty="0"/>
          </a:p>
        </p:txBody>
      </p:sp>
      <p:sp>
        <p:nvSpPr>
          <p:cNvPr id="44" name="Text 40"/>
          <p:cNvSpPr/>
          <p:nvPr/>
        </p:nvSpPr>
        <p:spPr>
          <a:xfrm>
            <a:off x="4743450" y="1660922"/>
            <a:ext cx="1826514" cy="159246"/>
          </a:xfrm>
          <a:prstGeom prst="roundRect">
            <a:avLst>
              <a:gd name="adj" fmla="val 1834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10" b="1" spc="7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EQUITY INSTRUMENTS</a:t>
            </a:r>
            <a:endParaRPr lang="en-US" sz="510" dirty="0"/>
          </a:p>
        </p:txBody>
      </p:sp>
      <p:sp>
        <p:nvSpPr>
          <p:cNvPr id="45" name="Text 41"/>
          <p:cNvSpPr/>
          <p:nvPr/>
        </p:nvSpPr>
        <p:spPr>
          <a:xfrm>
            <a:off x="4743450" y="1891159"/>
            <a:ext cx="1826514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BIOMETRIC-ADJUSTED</a:t>
            </a:r>
            <a:br/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REIT-LIKE INSTRUMENTS</a:t>
            </a:r>
            <a:endParaRPr lang="en-US" sz="730" dirty="0"/>
          </a:p>
        </p:txBody>
      </p:sp>
      <p:sp>
        <p:nvSpPr>
          <p:cNvPr id="46" name="Text 42"/>
          <p:cNvSpPr/>
          <p:nvPr/>
        </p:nvSpPr>
        <p:spPr>
          <a:xfrm>
            <a:off x="4743450" y="2218283"/>
            <a:ext cx="1790700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40000"/>
                </a:srgbClr>
              </a:gs>
              <a:gs pos="100000">
                <a:srgbClr val="00D4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743450" y="2326184"/>
            <a:ext cx="1826514" cy="6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dynamically driven by crowd HRV readings and fan biometric engagement — the first stadium asset class priced by human biology.</a:t>
            </a:r>
            <a:endParaRPr lang="en-US" sz="730" dirty="0"/>
          </a:p>
        </p:txBody>
      </p:sp>
      <p:sp>
        <p:nvSpPr>
          <p:cNvPr id="48" name="Text 44"/>
          <p:cNvSpPr/>
          <p:nvPr/>
        </p:nvSpPr>
        <p:spPr>
          <a:xfrm>
            <a:off x="4743450" y="3850779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4836021" y="3821609"/>
            <a:ext cx="999128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HRV drives yield</a:t>
            </a:r>
            <a:endParaRPr lang="en-US" sz="680" dirty="0"/>
          </a:p>
        </p:txBody>
      </p:sp>
      <p:sp>
        <p:nvSpPr>
          <p:cNvPr id="50" name="Text 46"/>
          <p:cNvSpPr/>
          <p:nvPr/>
        </p:nvSpPr>
        <p:spPr>
          <a:xfrm>
            <a:off x="4743450" y="4014788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836021" y="3985617"/>
            <a:ext cx="1301338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biometric Smart-Gate data</a:t>
            </a:r>
            <a:endParaRPr lang="en-US" sz="680" dirty="0"/>
          </a:p>
        </p:txBody>
      </p:sp>
      <p:sp>
        <p:nvSpPr>
          <p:cNvPr id="52" name="Text 48"/>
          <p:cNvSpPr/>
          <p:nvPr/>
        </p:nvSpPr>
        <p:spPr>
          <a:xfrm>
            <a:off x="4743450" y="4178796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836021" y="4149626"/>
            <a:ext cx="1069524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REIT-equivalent structure</a:t>
            </a:r>
            <a:endParaRPr lang="en-US" sz="680" dirty="0"/>
          </a:p>
        </p:txBody>
      </p:sp>
      <p:sp>
        <p:nvSpPr>
          <p:cNvPr id="54" name="Text 50"/>
          <p:cNvSpPr/>
          <p:nvPr/>
        </p:nvSpPr>
        <p:spPr>
          <a:xfrm>
            <a:off x="4743450" y="4342805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836021" y="4313634"/>
            <a:ext cx="1301338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Biometric Index linked</a:t>
            </a:r>
            <a:endParaRPr lang="en-US" sz="680" dirty="0"/>
          </a:p>
        </p:txBody>
      </p:sp>
      <p:sp>
        <p:nvSpPr>
          <p:cNvPr id="56" name="Text 52"/>
          <p:cNvSpPr/>
          <p:nvPr/>
        </p:nvSpPr>
        <p:spPr>
          <a:xfrm>
            <a:off x="4743450" y="4506813"/>
            <a:ext cx="43160" cy="4316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4836021" y="4477643"/>
            <a:ext cx="138335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economics + engagement</a:t>
            </a:r>
            <a:endParaRPr lang="en-US" sz="680" dirty="0"/>
          </a:p>
        </p:txBody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0224" y="4130576"/>
            <a:ext cx="481905" cy="481905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715125" y="979736"/>
            <a:ext cx="2143125" cy="3785741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6715125" y="989261"/>
            <a:ext cx="2133600" cy="114300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6886575" y="1174552"/>
            <a:ext cx="92339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0"/>
              </a:lnSpc>
              <a:buNone/>
            </a:pPr>
            <a:r>
              <a:rPr lang="en-US" sz="2930" b="1" spc="-59" kern="0" dirty="0">
                <a:solidFill>
                  <a:srgbClr val="00D4FF"/>
                </a:solidFill>
                <a:effectLst>
                  <a:glow rad="714375">
                    <a:srgbClr val="00D4FF">
                      <a:alpha val="10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DBBI</a:t>
            </a:r>
            <a:endParaRPr lang="en-US" sz="2930" dirty="0"/>
          </a:p>
        </p:txBody>
      </p:sp>
      <p:sp>
        <p:nvSpPr>
          <p:cNvPr id="62" name="Text 57"/>
          <p:cNvSpPr/>
          <p:nvPr/>
        </p:nvSpPr>
        <p:spPr>
          <a:xfrm>
            <a:off x="6886575" y="1575792"/>
            <a:ext cx="1826514" cy="159246"/>
          </a:xfrm>
          <a:prstGeom prst="roundRect">
            <a:avLst>
              <a:gd name="adj" fmla="val 1834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10" b="1" spc="7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DASHAWN BLEDSOE BOND INDEX</a:t>
            </a:r>
            <a:endParaRPr lang="en-US" sz="510" dirty="0"/>
          </a:p>
        </p:txBody>
      </p:sp>
      <p:sp>
        <p:nvSpPr>
          <p:cNvPr id="63" name="Text 58"/>
          <p:cNvSpPr/>
          <p:nvPr/>
        </p:nvSpPr>
        <p:spPr>
          <a:xfrm>
            <a:off x="6886575" y="1806029"/>
            <a:ext cx="1826514" cy="25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FIXED-INCOME RISK</a:t>
            </a:r>
            <a:br/>
            <a:pPr algn="l" indent="0" marL="0">
              <a:lnSpc>
                <a:spcPts val="949"/>
              </a:lnSpc>
              <a:buNone/>
            </a:pPr>
            <a:r>
              <a:rPr lang="en-US" sz="730" b="1" spc="37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730" dirty="0"/>
          </a:p>
        </p:txBody>
      </p:sp>
      <p:sp>
        <p:nvSpPr>
          <p:cNvPr id="64" name="Text 59"/>
          <p:cNvSpPr/>
          <p:nvPr/>
        </p:nvSpPr>
        <p:spPr>
          <a:xfrm>
            <a:off x="6886575" y="2133154"/>
            <a:ext cx="1790700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40000"/>
                </a:srgbClr>
              </a:gs>
              <a:gs pos="100000">
                <a:srgbClr val="00D4FF">
                  <a:alpha val="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6886575" y="2241054"/>
            <a:ext cx="1826514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Biometric-collateralized debt obligations setting the entire ecosystem yield curve — from elite stability to high-volatility upside.</a:t>
            </a:r>
            <a:endParaRPr lang="en-US" sz="730" dirty="0"/>
          </a:p>
        </p:txBody>
      </p:sp>
      <p:sp>
        <p:nvSpPr>
          <p:cNvPr id="66" name="Text 61"/>
          <p:cNvSpPr/>
          <p:nvPr/>
        </p:nvSpPr>
        <p:spPr>
          <a:xfrm>
            <a:off x="6886575" y="4028182"/>
            <a:ext cx="1732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</a:t>
            </a:r>
            <a:endParaRPr lang="en-US" sz="510" dirty="0"/>
          </a:p>
        </p:txBody>
      </p:sp>
      <p:sp>
        <p:nvSpPr>
          <p:cNvPr id="67" name="Text 62"/>
          <p:cNvSpPr/>
          <p:nvPr/>
        </p:nvSpPr>
        <p:spPr>
          <a:xfrm>
            <a:off x="7101185" y="4055120"/>
            <a:ext cx="590699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3"/>
          <p:cNvSpPr/>
          <p:nvPr/>
        </p:nvSpPr>
        <p:spPr>
          <a:xfrm>
            <a:off x="7101185" y="4055120"/>
            <a:ext cx="54337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22D3EE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4"/>
          <p:cNvSpPr/>
          <p:nvPr/>
        </p:nvSpPr>
        <p:spPr>
          <a:xfrm>
            <a:off x="7656210" y="4023420"/>
            <a:ext cx="10210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Stable athletes</a:t>
            </a:r>
            <a:endParaRPr lang="en-US" sz="560" dirty="0"/>
          </a:p>
        </p:txBody>
      </p:sp>
      <p:sp>
        <p:nvSpPr>
          <p:cNvPr id="70" name="Text 65"/>
          <p:cNvSpPr/>
          <p:nvPr/>
        </p:nvSpPr>
        <p:spPr>
          <a:xfrm>
            <a:off x="6886575" y="4184303"/>
            <a:ext cx="1732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510" dirty="0"/>
          </a:p>
        </p:txBody>
      </p:sp>
      <p:sp>
        <p:nvSpPr>
          <p:cNvPr id="71" name="Text 66"/>
          <p:cNvSpPr/>
          <p:nvPr/>
        </p:nvSpPr>
        <p:spPr>
          <a:xfrm>
            <a:off x="7101185" y="4211241"/>
            <a:ext cx="590699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7101185" y="4211241"/>
            <a:ext cx="448866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4D399"/>
              </a:gs>
              <a:gs pos="100000">
                <a:srgbClr val="10B98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8"/>
          <p:cNvSpPr/>
          <p:nvPr/>
        </p:nvSpPr>
        <p:spPr>
          <a:xfrm>
            <a:off x="7656210" y="4179540"/>
            <a:ext cx="10210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— Consistent performers</a:t>
            </a:r>
            <a:endParaRPr lang="en-US" sz="560" dirty="0"/>
          </a:p>
        </p:txBody>
      </p:sp>
      <p:sp>
        <p:nvSpPr>
          <p:cNvPr id="74" name="Text 69"/>
          <p:cNvSpPr/>
          <p:nvPr/>
        </p:nvSpPr>
        <p:spPr>
          <a:xfrm>
            <a:off x="6886575" y="4340423"/>
            <a:ext cx="1732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10" dirty="0"/>
          </a:p>
        </p:txBody>
      </p:sp>
      <p:sp>
        <p:nvSpPr>
          <p:cNvPr id="75" name="Text 70"/>
          <p:cNvSpPr/>
          <p:nvPr/>
        </p:nvSpPr>
        <p:spPr>
          <a:xfrm>
            <a:off x="7101185" y="4367361"/>
            <a:ext cx="590699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1"/>
          <p:cNvSpPr/>
          <p:nvPr/>
        </p:nvSpPr>
        <p:spPr>
          <a:xfrm>
            <a:off x="7101185" y="4367361"/>
            <a:ext cx="342602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BBF24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7656210" y="4335661"/>
            <a:ext cx="10210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— Emerging talent</a:t>
            </a:r>
            <a:endParaRPr lang="en-US" sz="560" dirty="0"/>
          </a:p>
        </p:txBody>
      </p:sp>
      <p:sp>
        <p:nvSpPr>
          <p:cNvPr id="78" name="Text 73"/>
          <p:cNvSpPr/>
          <p:nvPr/>
        </p:nvSpPr>
        <p:spPr>
          <a:xfrm>
            <a:off x="6886575" y="4496544"/>
            <a:ext cx="17320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endParaRPr lang="en-US" sz="510" dirty="0"/>
          </a:p>
        </p:txBody>
      </p:sp>
      <p:sp>
        <p:nvSpPr>
          <p:cNvPr id="79" name="Text 74"/>
          <p:cNvSpPr/>
          <p:nvPr/>
        </p:nvSpPr>
        <p:spPr>
          <a:xfrm>
            <a:off x="7101185" y="4523482"/>
            <a:ext cx="590699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5"/>
          <p:cNvSpPr/>
          <p:nvPr/>
        </p:nvSpPr>
        <p:spPr>
          <a:xfrm>
            <a:off x="7101185" y="4523482"/>
            <a:ext cx="224433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87171"/>
              </a:gs>
              <a:gs pos="100000">
                <a:srgbClr val="EF444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6"/>
          <p:cNvSpPr/>
          <p:nvPr/>
        </p:nvSpPr>
        <p:spPr>
          <a:xfrm>
            <a:off x="7656210" y="4491782"/>
            <a:ext cx="102106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— High volatility</a:t>
            </a:r>
            <a:endParaRPr lang="en-US" sz="560" dirty="0"/>
          </a:p>
        </p:txBody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7">
            <a:alphaModFix amt="1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3349" y="4130576"/>
            <a:ext cx="481905" cy="481905"/>
          </a:xfrm>
          <a:prstGeom prst="rect">
            <a:avLst/>
          </a:prstGeom>
        </p:spPr>
      </p:pic>
      <p:sp>
        <p:nvSpPr>
          <p:cNvPr id="83" name="Text 77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0D4FF">
              <a:alpha val="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8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00D4FF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9"/>
          <p:cNvSpPr/>
          <p:nvPr/>
        </p:nvSpPr>
        <p:spPr>
          <a:xfrm>
            <a:off x="400050" y="4965948"/>
            <a:ext cx="246335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· EIN 82-3957690 · NIBLSCOIN.COM</a:t>
            </a:r>
            <a:endParaRPr lang="en-US" sz="560" dirty="0"/>
          </a:p>
        </p:txBody>
      </p:sp>
      <p:sp>
        <p:nvSpPr>
          <p:cNvPr id="86" name="Text 80"/>
          <p:cNvSpPr/>
          <p:nvPr/>
        </p:nvSpPr>
        <p:spPr>
          <a:xfrm>
            <a:off x="6545461" y="4965948"/>
            <a:ext cx="241833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 Equity Layer · Performance-Securitized Asset Class</a:t>
            </a:r>
            <a:endParaRPr lang="en-US" sz="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714500" cy="171450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85780" y="3429000"/>
            <a:ext cx="2286000" cy="1714500"/>
          </a:xfrm>
          <a:prstGeom prst="rect">
            <a:avLst/>
          </a:prstGeom>
          <a:gradFill rotWithShape="1">
            <a:gsLst>
              <a:gs pos="0">
                <a:srgbClr val="00D4FF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0" y="0"/>
            <a:ext cx="759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>
                  <a:alpha val="25000"/>
                </a:srgbClr>
              </a:gs>
              <a:gs pos="70000">
                <a:srgbClr val="00D4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228600"/>
            <a:ext cx="1573152" cy="180231"/>
          </a:xfrm>
          <a:prstGeom prst="roundRect">
            <a:avLst>
              <a:gd name="adj" fmla="val 79626"/>
            </a:avLst>
          </a:prstGeom>
          <a:gradFill rotWithShape="1">
            <a:gsLst>
              <a:gs pos="0">
                <a:srgbClr val="00D4FF">
                  <a:alpha val="15000"/>
                </a:srgbClr>
              </a:gs>
              <a:gs pos="100000">
                <a:srgbClr val="00D4FF">
                  <a:alpha val="5000"/>
                </a:srgbClr>
              </a:gs>
            </a:gsLst>
            <a:lin ang="0" scaled="1"/>
          </a:gra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142121" tIns="21590" rIns="71120" bIns="21590" rtlCol="0" anchor="ctr"/>
          <a:lstStyle/>
          <a:p>
            <a:pPr algn="l" indent="0" marL="0">
              <a:buNone/>
            </a:pPr>
            <a:r>
              <a:rPr lang="en-US" sz="620" b="1" spc="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GOAL WRESTLING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401836" y="293936"/>
            <a:ext cx="49411" cy="4941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900" y="465981"/>
            <a:ext cx="4633686" cy="51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3"/>
              </a:lnSpc>
              <a:spcAft>
                <a:spcPts val="110"/>
              </a:spcAft>
              <a:buNone/>
            </a:pPr>
            <a:r>
              <a:rPr lang="en-US" sz="1690" b="1" spc="-2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Tech+Ball:</a:t>
            </a:r>
            <a:pPr algn="l" indent="0" marL="0">
              <a:lnSpc>
                <a:spcPts val="1943"/>
              </a:lnSpc>
              <a:spcAft>
                <a:spcPts val="110"/>
              </a:spcAft>
              <a:buNone/>
            </a:pPr>
            <a:r>
              <a:rPr lang="en-US" sz="1690" spc="-20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The Game That Powers the Exchange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342900" y="973336"/>
            <a:ext cx="499711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790"/>
              </a:spcAft>
              <a:buNone/>
            </a:pPr>
            <a:r>
              <a:rPr lang="en-US" sz="790" i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7v7 Biometric-Verified Sport Genre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342900" y="1224111"/>
            <a:ext cx="3149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" y="1367433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3416" y="14416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268" y="1496550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52177" y="1434108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7v7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 &amp; Positions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752177" y="1557486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Runners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Wing Defenders (L/R) · Offensive Pivot · Central Left &amp; Right Field Tackles —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per team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full contact biometric play.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42900" y="1915269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23416" y="1989534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268" y="2044386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2177" y="1981944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Scoring System</a:t>
            </a:r>
            <a:endParaRPr lang="en-US" sz="760" dirty="0"/>
          </a:p>
        </p:txBody>
      </p:sp>
      <p:sp>
        <p:nvSpPr>
          <p:cNvPr id="21" name="Text 17"/>
          <p:cNvSpPr/>
          <p:nvPr/>
        </p:nvSpPr>
        <p:spPr>
          <a:xfrm>
            <a:off x="752177" y="2105323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pts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long-range throw through net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goal area run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 zone score. Ball must not bounce or touch ground.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342900" y="2463105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23416" y="253737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268" y="2592223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52177" y="2529780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 Economy</a:t>
            </a:r>
            <a:endParaRPr lang="en-US" sz="760" dirty="0"/>
          </a:p>
        </p:txBody>
      </p:sp>
      <p:sp>
        <p:nvSpPr>
          <p:cNvPr id="26" name="Text 21"/>
          <p:cNvSpPr/>
          <p:nvPr/>
        </p:nvSpPr>
        <p:spPr>
          <a:xfrm>
            <a:off x="752177" y="2653159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catch, pass, steal &amp; score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adjusts ALT Team Token value in real-time on-chain — play-to-earn financial exchange woven into live gameplay.</a:t>
            </a:r>
            <a:endParaRPr lang="en-US" sz="680" dirty="0"/>
          </a:p>
        </p:txBody>
      </p:sp>
      <p:sp>
        <p:nvSpPr>
          <p:cNvPr id="27" name="Text 22"/>
          <p:cNvSpPr/>
          <p:nvPr/>
        </p:nvSpPr>
        <p:spPr>
          <a:xfrm>
            <a:off x="342900" y="3010942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23416" y="308520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268" y="3140059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2177" y="3077617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Cyber Referee Protocol</a:t>
            </a:r>
            <a:endParaRPr lang="en-US" sz="760" dirty="0"/>
          </a:p>
        </p:txBody>
      </p:sp>
      <p:sp>
        <p:nvSpPr>
          <p:cNvPr id="31" name="Text 25"/>
          <p:cNvSpPr/>
          <p:nvPr/>
        </p:nvSpPr>
        <p:spPr>
          <a:xfrm>
            <a:off x="752177" y="3200995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Blue Card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triggers real-time Tech+Ball system security audit by Guard Duty Referees.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Green Card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2-min suspension.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Card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disqualification.</a:t>
            </a:r>
            <a:endParaRPr lang="en-US" sz="680" dirty="0"/>
          </a:p>
        </p:txBody>
      </p:sp>
      <p:sp>
        <p:nvSpPr>
          <p:cNvPr id="32" name="Text 26"/>
          <p:cNvSpPr/>
          <p:nvPr/>
        </p:nvSpPr>
        <p:spPr>
          <a:xfrm>
            <a:off x="342900" y="3558778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23416" y="363304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268" y="3687895"/>
            <a:ext cx="132588" cy="132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2177" y="3625453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 Pro Season</a:t>
            </a:r>
            <a:endParaRPr lang="en-US" sz="760" dirty="0"/>
          </a:p>
        </p:txBody>
      </p:sp>
      <p:sp>
        <p:nvSpPr>
          <p:cNvPr id="36" name="Text 29"/>
          <p:cNvSpPr/>
          <p:nvPr/>
        </p:nvSpPr>
        <p:spPr>
          <a:xfrm>
            <a:off x="752177" y="3748832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home / 25 away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team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 total league games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Western &amp; Eastern Conference Playoffs — Top 8 teams, best-of 3–7 game series.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342900" y="4106614"/>
            <a:ext cx="4542830" cy="498425"/>
          </a:xfrm>
          <a:prstGeom prst="roundRect">
            <a:avLst>
              <a:gd name="adj" fmla="val 8663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0D4FF">
                <a:alpha val="9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423416" y="4180880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268" y="4235732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52177" y="4173289"/>
            <a:ext cx="4441478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pPr algn="l" indent="0" marL="0">
              <a:lnSpc>
                <a:spcPts val="912"/>
              </a:lnSpc>
              <a:spcAft>
                <a:spcPts val="60"/>
              </a:spcAft>
              <a:buNone/>
            </a:pPr>
            <a:r>
              <a:rPr lang="en-US" sz="76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Pro Clubs</a:t>
            </a:r>
            <a:endParaRPr lang="en-US" sz="760" dirty="0"/>
          </a:p>
        </p:txBody>
      </p:sp>
      <p:sp>
        <p:nvSpPr>
          <p:cNvPr id="41" name="Text 33"/>
          <p:cNvSpPr/>
          <p:nvPr/>
        </p:nvSpPr>
        <p:spPr>
          <a:xfrm>
            <a:off x="752177" y="4296668"/>
            <a:ext cx="4118461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(Zambia)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(Paris)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Lions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(Berlin)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Sharks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(Beijing)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Shamrocks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(Ireland) · </a:t>
            </a:r>
            <a:pPr algn="l" indent="0" marL="0">
              <a:lnSpc>
                <a:spcPts val="952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AR-15z</a:t>
            </a:r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(USA) + 18 more worldwide.</a:t>
            </a:r>
            <a:endParaRPr lang="en-US" sz="680" dirty="0"/>
          </a:p>
        </p:txBody>
      </p:sp>
      <p:sp>
        <p:nvSpPr>
          <p:cNvPr id="42" name="Text 34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gradFill rotWithShape="1">
            <a:gsLst>
              <a:gs pos="0">
                <a:srgbClr val="101828"/>
              </a:gs>
              <a:gs pos="100000">
                <a:srgbClr val="0D1525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5143500" y="0"/>
            <a:ext cx="9525" cy="5143500"/>
          </a:xfrm>
          <a:prstGeom prst="rect">
            <a:avLst/>
          </a:prstGeom>
          <a:solidFill>
            <a:srgbClr val="00D4FF">
              <a:alpha val="1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189658" y="1419076"/>
            <a:ext cx="19177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b="1" spc="11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FIELD DIAGRAM · 7V7 LAYOUT</a:t>
            </a:r>
            <a:endParaRPr lang="en-US" sz="730" dirty="0"/>
          </a:p>
        </p:txBody>
      </p:sp>
      <p:sp>
        <p:nvSpPr>
          <p:cNvPr id="45" name="Text 37"/>
          <p:cNvSpPr/>
          <p:nvPr/>
        </p:nvSpPr>
        <p:spPr>
          <a:xfrm>
            <a:off x="5398443" y="1629073"/>
            <a:ext cx="3499991" cy="1786830"/>
          </a:xfrm>
          <a:prstGeom prst="roundRect">
            <a:avLst>
              <a:gd name="adj" fmla="val 3980"/>
            </a:avLst>
          </a:prstGeom>
          <a:noFill/>
          <a:ln w="9525">
            <a:solidFill>
              <a:srgbClr val="00D4FF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7968" y="1638598"/>
            <a:ext cx="2625030" cy="17677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837932" y="3486894"/>
            <a:ext cx="926604" cy="237381"/>
          </a:xfrm>
          <a:prstGeom prst="roundRect">
            <a:avLst>
              <a:gd name="adj" fmla="val 60456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5933777" y="3525589"/>
            <a:ext cx="65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40" dirty="0"/>
          </a:p>
        </p:txBody>
      </p:sp>
      <p:sp>
        <p:nvSpPr>
          <p:cNvPr id="49" name="Text 40"/>
          <p:cNvSpPr/>
          <p:nvPr/>
        </p:nvSpPr>
        <p:spPr>
          <a:xfrm>
            <a:off x="6036320" y="3540770"/>
            <a:ext cx="69560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Net</a:t>
            </a:r>
            <a:endParaRPr lang="en-US" sz="680" dirty="0"/>
          </a:p>
        </p:txBody>
      </p:sp>
      <p:sp>
        <p:nvSpPr>
          <p:cNvPr id="50" name="Text 41"/>
          <p:cNvSpPr/>
          <p:nvPr/>
        </p:nvSpPr>
        <p:spPr>
          <a:xfrm>
            <a:off x="6821686" y="3486894"/>
            <a:ext cx="859482" cy="237381"/>
          </a:xfrm>
          <a:prstGeom prst="roundRect">
            <a:avLst>
              <a:gd name="adj" fmla="val 60456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6917531" y="3525589"/>
            <a:ext cx="65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52" name="Text 43"/>
          <p:cNvSpPr/>
          <p:nvPr/>
        </p:nvSpPr>
        <p:spPr>
          <a:xfrm>
            <a:off x="7020074" y="3540770"/>
            <a:ext cx="62177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Area Run</a:t>
            </a:r>
            <a:endParaRPr lang="en-US" sz="680" dirty="0"/>
          </a:p>
        </p:txBody>
      </p:sp>
      <p:sp>
        <p:nvSpPr>
          <p:cNvPr id="53" name="Text 44"/>
          <p:cNvSpPr/>
          <p:nvPr/>
        </p:nvSpPr>
        <p:spPr>
          <a:xfrm>
            <a:off x="7738318" y="3486894"/>
            <a:ext cx="720626" cy="237381"/>
          </a:xfrm>
          <a:prstGeom prst="roundRect">
            <a:avLst>
              <a:gd name="adj" fmla="val 60456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7834164" y="3525589"/>
            <a:ext cx="65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55" name="Text 46"/>
          <p:cNvSpPr/>
          <p:nvPr/>
        </p:nvSpPr>
        <p:spPr>
          <a:xfrm>
            <a:off x="7936706" y="3540770"/>
            <a:ext cx="46903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Zone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143720"/>
          </a:xfrm>
          <a:prstGeom prst="rect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1470" y="3286720"/>
            <a:ext cx="2142530" cy="1856780"/>
          </a:xfrm>
          <a:prstGeom prst="rect">
            <a:avLst/>
          </a:prstGeom>
          <a:gradFill rotWithShape="1">
            <a:gsLst>
              <a:gs pos="0">
                <a:srgbClr val="00B4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745" y="83105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4035" y="83105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9325" y="83105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745" y="294560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34035" y="294560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29325" y="2945606"/>
            <a:ext cx="2675934" cy="13841"/>
          </a:xfrm>
          <a:custGeom>
            <a:avLst/>
            <a:gdLst/>
            <a:ahLst/>
            <a:cxnLst/>
            <a:rect l="l" t="t" r="r" b="b"/>
            <a:pathLst>
              <a:path w="2675934" h="13841">
                <a:moveTo>
                  <a:pt x="100330" y="0"/>
                </a:moveTo>
                <a:lnTo>
                  <a:pt x="2575605" y="0"/>
                </a:lnTo>
                <a:lnTo>
                  <a:pt x="2594157" y="1730"/>
                </a:lnTo>
                <a:lnTo>
                  <a:pt x="2601727" y="3460"/>
                </a:lnTo>
                <a:lnTo>
                  <a:pt x="2607457" y="5190"/>
                </a:lnTo>
                <a:lnTo>
                  <a:pt x="2612221" y="6920"/>
                </a:lnTo>
                <a:lnTo>
                  <a:pt x="2616360" y="8651"/>
                </a:lnTo>
                <a:lnTo>
                  <a:pt x="2620048" y="10381"/>
                </a:lnTo>
                <a:lnTo>
                  <a:pt x="2623391" y="12111"/>
                </a:lnTo>
                <a:lnTo>
                  <a:pt x="262645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220" y="200620"/>
            <a:ext cx="471978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36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· MARKET INTELLIGENCE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429220" y="347811"/>
            <a:ext cx="4591065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b="1" spc="-19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Opportunity &amp; Proven Traction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429220" y="671810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5957" y="485477"/>
            <a:ext cx="1804199" cy="207913"/>
          </a:xfrm>
          <a:prstGeom prst="roundRect">
            <a:avLst>
              <a:gd name="adj" fmla="val 20768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2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algn="l" indent="0" marL="0">
              <a:buNone/>
            </a:pPr>
            <a:r>
              <a:rPr lang="en-US" sz="620" b="1" spc="87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TICKER: NIBLS · EIN 82-3957690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429220" y="82153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04787" y="82153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2216" y="95919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068" y="1014049"/>
            <a:ext cx="132588" cy="1325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5648" y="1021407"/>
            <a:ext cx="16991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SPORTS TECH MARKET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582216" y="124479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$11.7B</a:t>
            </a:r>
            <a:endParaRPr lang="en-US" sz="2360" dirty="0"/>
          </a:p>
        </p:txBody>
      </p:sp>
      <p:sp>
        <p:nvSpPr>
          <p:cNvPr id="22" name="Text 19"/>
          <p:cNvSpPr/>
          <p:nvPr/>
        </p:nvSpPr>
        <p:spPr>
          <a:xfrm>
            <a:off x="582216" y="155837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Market Size · Explosive Growth Ahead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582216" y="2495996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216" y="2568178"/>
            <a:ext cx="428625" cy="128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67991" y="2552998"/>
            <a:ext cx="644563" cy="158948"/>
          </a:xfrm>
          <a:prstGeom prst="roundRect">
            <a:avLst>
              <a:gd name="adj" fmla="val 22372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algn="l" indent="0" marL="0">
              <a:buNone/>
            </a:pPr>
            <a:r>
              <a:rPr lang="en-US" sz="590" b="1" spc="3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CAGR</a:t>
            </a:r>
            <a:endParaRPr lang="en-US" sz="590" dirty="0"/>
          </a:p>
        </p:txBody>
      </p:sp>
      <p:sp>
        <p:nvSpPr>
          <p:cNvPr id="26" name="Text 22"/>
          <p:cNvSpPr/>
          <p:nvPr/>
        </p:nvSpPr>
        <p:spPr>
          <a:xfrm>
            <a:off x="1757065" y="2572643"/>
            <a:ext cx="53468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3224510" y="82153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400077" y="82153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377505" y="95919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2358" y="1014049"/>
            <a:ext cx="132588" cy="1325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690937" y="1021407"/>
            <a:ext cx="16302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PROJECTED VALUATION</a:t>
            </a:r>
            <a:endParaRPr lang="en-US" sz="620" dirty="0"/>
          </a:p>
        </p:txBody>
      </p:sp>
      <p:sp>
        <p:nvSpPr>
          <p:cNvPr id="32" name="Text 27"/>
          <p:cNvSpPr/>
          <p:nvPr/>
        </p:nvSpPr>
        <p:spPr>
          <a:xfrm>
            <a:off x="3377505" y="124479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$20B+</a:t>
            </a:r>
            <a:endParaRPr lang="en-US" sz="2360" dirty="0"/>
          </a:p>
        </p:txBody>
      </p:sp>
      <p:sp>
        <p:nvSpPr>
          <p:cNvPr id="33" name="Text 28"/>
          <p:cNvSpPr/>
          <p:nvPr/>
        </p:nvSpPr>
        <p:spPr>
          <a:xfrm>
            <a:off x="3377505" y="155837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Global Clubs · Stadium Capacity Model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3377505" y="2415629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3377505" y="2472630"/>
            <a:ext cx="2436769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17,000–80,000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seats per venue · Token distribution at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$382M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valuation · Pre-IPO goal: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6019800" y="82153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8195367" y="82153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172795" y="95919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7647" y="1014049"/>
            <a:ext cx="132588" cy="13258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486227" y="1021407"/>
            <a:ext cx="14909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PARTNERSHIPS</a:t>
            </a:r>
            <a:endParaRPr lang="en-US" sz="620" dirty="0"/>
          </a:p>
        </p:txBody>
      </p:sp>
      <p:sp>
        <p:nvSpPr>
          <p:cNvPr id="41" name="Text 35"/>
          <p:cNvSpPr/>
          <p:nvPr/>
        </p:nvSpPr>
        <p:spPr>
          <a:xfrm>
            <a:off x="6172795" y="124479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</a:t>
            </a:r>
            <a:endParaRPr lang="en-US" sz="2360" dirty="0"/>
          </a:p>
        </p:txBody>
      </p:sp>
      <p:sp>
        <p:nvSpPr>
          <p:cNvPr id="42" name="Text 36"/>
          <p:cNvSpPr/>
          <p:nvPr/>
        </p:nvSpPr>
        <p:spPr>
          <a:xfrm>
            <a:off x="6172795" y="155837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· 60 Currently Partnered</a:t>
            </a:r>
            <a:endParaRPr lang="en-US" sz="730" dirty="0"/>
          </a:p>
        </p:txBody>
      </p:sp>
      <p:sp>
        <p:nvSpPr>
          <p:cNvPr id="43" name="Text 37"/>
          <p:cNvSpPr/>
          <p:nvPr/>
        </p:nvSpPr>
        <p:spPr>
          <a:xfrm>
            <a:off x="6172795" y="2300436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172795" y="2357438"/>
            <a:ext cx="2388989" cy="29170"/>
          </a:xfrm>
          <a:prstGeom prst="roundRect">
            <a:avLst>
              <a:gd name="adj" fmla="val 47892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172795" y="2357438"/>
            <a:ext cx="1982837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D4FF"/>
              </a:gs>
              <a:gs pos="100000">
                <a:srgbClr val="00D4F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172795" y="2408188"/>
            <a:ext cx="7362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toward target</a:t>
            </a:r>
            <a:endParaRPr lang="en-US" sz="650" dirty="0"/>
          </a:p>
        </p:txBody>
      </p:sp>
      <p:sp>
        <p:nvSpPr>
          <p:cNvPr id="47" name="Text 41"/>
          <p:cNvSpPr/>
          <p:nvPr/>
        </p:nvSpPr>
        <p:spPr>
          <a:xfrm>
            <a:off x="8213378" y="2408188"/>
            <a:ext cx="38324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active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6172795" y="2571006"/>
            <a:ext cx="357039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UPenn</a:t>
            </a:r>
            <a:endParaRPr lang="en-US" sz="560" dirty="0"/>
          </a:p>
        </p:txBody>
      </p:sp>
      <p:sp>
        <p:nvSpPr>
          <p:cNvPr id="49" name="Text 43"/>
          <p:cNvSpPr/>
          <p:nvPr/>
        </p:nvSpPr>
        <p:spPr>
          <a:xfrm>
            <a:off x="6565255" y="2571006"/>
            <a:ext cx="560487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Georgetown</a:t>
            </a:r>
            <a:endParaRPr lang="en-US" sz="560" dirty="0"/>
          </a:p>
        </p:txBody>
      </p:sp>
      <p:sp>
        <p:nvSpPr>
          <p:cNvPr id="50" name="Text 44"/>
          <p:cNvSpPr/>
          <p:nvPr/>
        </p:nvSpPr>
        <p:spPr>
          <a:xfrm>
            <a:off x="7161163" y="2571006"/>
            <a:ext cx="494556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U.</a:t>
            </a:r>
            <a:endParaRPr lang="en-US" sz="560" dirty="0"/>
          </a:p>
        </p:txBody>
      </p:sp>
      <p:sp>
        <p:nvSpPr>
          <p:cNvPr id="51" name="Text 45"/>
          <p:cNvSpPr/>
          <p:nvPr/>
        </p:nvSpPr>
        <p:spPr>
          <a:xfrm>
            <a:off x="7691140" y="2571006"/>
            <a:ext cx="454372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 more</a:t>
            </a:r>
            <a:endParaRPr lang="en-US" sz="560" dirty="0"/>
          </a:p>
        </p:txBody>
      </p:sp>
      <p:sp>
        <p:nvSpPr>
          <p:cNvPr id="52" name="Text 46"/>
          <p:cNvSpPr/>
          <p:nvPr/>
        </p:nvSpPr>
        <p:spPr>
          <a:xfrm>
            <a:off x="429220" y="293608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2604787" y="293608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82216" y="307374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068" y="3128599"/>
            <a:ext cx="132588" cy="13258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95648" y="3135957"/>
            <a:ext cx="14378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RAISE &amp; FUNDING</a:t>
            </a:r>
            <a:endParaRPr lang="en-US" sz="620" dirty="0"/>
          </a:p>
        </p:txBody>
      </p:sp>
      <p:sp>
        <p:nvSpPr>
          <p:cNvPr id="57" name="Text 50"/>
          <p:cNvSpPr/>
          <p:nvPr/>
        </p:nvSpPr>
        <p:spPr>
          <a:xfrm>
            <a:off x="582216" y="335934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$1.248M</a:t>
            </a:r>
            <a:endParaRPr lang="en-US" sz="2360" dirty="0"/>
          </a:p>
        </p:txBody>
      </p:sp>
      <p:sp>
        <p:nvSpPr>
          <p:cNvPr id="58" name="Text 51"/>
          <p:cNvSpPr/>
          <p:nvPr/>
        </p:nvSpPr>
        <p:spPr>
          <a:xfrm>
            <a:off x="582216" y="367292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Target · Token + Pre-IPO Roadmap</a:t>
            </a:r>
            <a:endParaRPr lang="en-US" sz="730" dirty="0"/>
          </a:p>
        </p:txBody>
      </p:sp>
      <p:sp>
        <p:nvSpPr>
          <p:cNvPr id="59" name="Text 52"/>
          <p:cNvSpPr/>
          <p:nvPr/>
        </p:nvSpPr>
        <p:spPr>
          <a:xfrm>
            <a:off x="582216" y="4410521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582216" y="4467523"/>
            <a:ext cx="2436769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distribution valuation: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$382M</a:t>
            </a:r>
            <a:br/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Pre-IPO goal: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Projected income: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$31.8M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short-term</a:t>
            </a:r>
            <a:br/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game revenue: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$1.828B</a:t>
            </a:r>
            <a:endParaRPr lang="en-US" sz="650" dirty="0"/>
          </a:p>
        </p:txBody>
      </p:sp>
      <p:sp>
        <p:nvSpPr>
          <p:cNvPr id="61" name="Text 54"/>
          <p:cNvSpPr/>
          <p:nvPr/>
        </p:nvSpPr>
        <p:spPr>
          <a:xfrm>
            <a:off x="3224510" y="293608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5400077" y="293608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3377505" y="307374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32358" y="3128599"/>
            <a:ext cx="132588" cy="132588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3690937" y="3135957"/>
            <a:ext cx="17494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PLATFORM CREDITS</a:t>
            </a:r>
            <a:endParaRPr lang="en-US" sz="620" dirty="0"/>
          </a:p>
        </p:txBody>
      </p:sp>
      <p:sp>
        <p:nvSpPr>
          <p:cNvPr id="66" name="Text 58"/>
          <p:cNvSpPr/>
          <p:nvPr/>
        </p:nvSpPr>
        <p:spPr>
          <a:xfrm>
            <a:off x="3377505" y="335934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8K+</a:t>
            </a:r>
            <a:endParaRPr lang="en-US" sz="2360" dirty="0"/>
          </a:p>
        </p:txBody>
      </p:sp>
      <p:sp>
        <p:nvSpPr>
          <p:cNvPr id="67" name="Text 59"/>
          <p:cNvSpPr/>
          <p:nvPr/>
        </p:nvSpPr>
        <p:spPr>
          <a:xfrm>
            <a:off x="3377505" y="367292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Network Users</a:t>
            </a:r>
            <a:endParaRPr lang="en-US" sz="730" dirty="0"/>
          </a:p>
        </p:txBody>
      </p:sp>
      <p:sp>
        <p:nvSpPr>
          <p:cNvPr id="68" name="Text 60"/>
          <p:cNvSpPr/>
          <p:nvPr/>
        </p:nvSpPr>
        <p:spPr>
          <a:xfrm>
            <a:off x="3377505" y="4473476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1"/>
          <p:cNvSpPr/>
          <p:nvPr/>
        </p:nvSpPr>
        <p:spPr>
          <a:xfrm>
            <a:off x="3377505" y="4530477"/>
            <a:ext cx="545009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$1,350</a:t>
            </a:r>
            <a:endParaRPr lang="en-US" sz="560" dirty="0"/>
          </a:p>
        </p:txBody>
      </p:sp>
      <p:sp>
        <p:nvSpPr>
          <p:cNvPr id="70" name="Text 62"/>
          <p:cNvSpPr/>
          <p:nvPr/>
        </p:nvSpPr>
        <p:spPr>
          <a:xfrm>
            <a:off x="3957935" y="4530477"/>
            <a:ext cx="921544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$5K→$500K</a:t>
            </a:r>
            <a:endParaRPr lang="en-US" sz="560" dirty="0"/>
          </a:p>
        </p:txBody>
      </p:sp>
      <p:sp>
        <p:nvSpPr>
          <p:cNvPr id="71" name="Text 63"/>
          <p:cNvSpPr/>
          <p:nvPr/>
        </p:nvSpPr>
        <p:spPr>
          <a:xfrm>
            <a:off x="4914900" y="4530477"/>
            <a:ext cx="667792" cy="155034"/>
          </a:xfrm>
          <a:prstGeom prst="roundRect">
            <a:avLst>
              <a:gd name="adj" fmla="val 18841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SendPulse $5K</a:t>
            </a:r>
            <a:endParaRPr lang="en-US" sz="560" dirty="0"/>
          </a:p>
        </p:txBody>
      </p:sp>
      <p:sp>
        <p:nvSpPr>
          <p:cNvPr id="72" name="Text 64"/>
          <p:cNvSpPr/>
          <p:nvPr/>
        </p:nvSpPr>
        <p:spPr>
          <a:xfrm>
            <a:off x="3377505" y="4706838"/>
            <a:ext cx="262788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credits secured · Cloud infrastructure active</a:t>
            </a:r>
            <a:endParaRPr lang="en-US" sz="650" dirty="0"/>
          </a:p>
        </p:txBody>
      </p:sp>
      <p:sp>
        <p:nvSpPr>
          <p:cNvPr id="73" name="Text 65"/>
          <p:cNvSpPr/>
          <p:nvPr/>
        </p:nvSpPr>
        <p:spPr>
          <a:xfrm>
            <a:off x="6019800" y="2936081"/>
            <a:ext cx="2694980" cy="2014240"/>
          </a:xfrm>
          <a:prstGeom prst="roundRect">
            <a:avLst>
              <a:gd name="adj" fmla="val 4981"/>
            </a:avLst>
          </a:prstGeom>
          <a:gradFill rotWithShape="1">
            <a:gsLst>
              <a:gs pos="60000">
                <a:srgbClr val="111827"/>
              </a:gs>
              <a:gs pos="100000">
                <a:srgbClr val="0D1630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6"/>
          <p:cNvSpPr/>
          <p:nvPr/>
        </p:nvSpPr>
        <p:spPr>
          <a:xfrm>
            <a:off x="8195367" y="2936081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7"/>
          <p:cNvSpPr/>
          <p:nvPr/>
        </p:nvSpPr>
        <p:spPr>
          <a:xfrm>
            <a:off x="6172795" y="3073747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27647" y="3128599"/>
            <a:ext cx="132588" cy="132588"/>
          </a:xfrm>
          <a:prstGeom prst="rect">
            <a:avLst/>
          </a:prstGeom>
        </p:spPr>
      </p:pic>
      <p:sp>
        <p:nvSpPr>
          <p:cNvPr id="77" name="Text 68"/>
          <p:cNvSpPr/>
          <p:nvPr/>
        </p:nvSpPr>
        <p:spPr>
          <a:xfrm>
            <a:off x="6486227" y="3135957"/>
            <a:ext cx="12815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8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PIPELINE</a:t>
            </a:r>
            <a:endParaRPr lang="en-US" sz="620" dirty="0"/>
          </a:p>
        </p:txBody>
      </p:sp>
      <p:sp>
        <p:nvSpPr>
          <p:cNvPr id="78" name="Text 69"/>
          <p:cNvSpPr/>
          <p:nvPr/>
        </p:nvSpPr>
        <p:spPr>
          <a:xfrm>
            <a:off x="6172795" y="3359348"/>
            <a:ext cx="2556218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2360" b="1" spc="-47" kern="0" dirty="0">
                <a:solidFill>
                  <a:srgbClr val="00D4FF"/>
                </a:solidFill>
                <a:effectLst>
                  <a:glow rad="428625">
                    <a:srgbClr val="00D4FF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300+</a:t>
            </a:r>
            <a:endParaRPr lang="en-US" sz="2360" dirty="0"/>
          </a:p>
        </p:txBody>
      </p:sp>
      <p:sp>
        <p:nvSpPr>
          <p:cNvPr id="79" name="Text 70"/>
          <p:cNvSpPr/>
          <p:nvPr/>
        </p:nvSpPr>
        <p:spPr>
          <a:xfrm>
            <a:off x="6172795" y="3672929"/>
            <a:ext cx="262788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Ready · Investor Pipeline Active</a:t>
            </a:r>
            <a:endParaRPr lang="en-US" sz="730" dirty="0"/>
          </a:p>
        </p:txBody>
      </p:sp>
      <p:sp>
        <p:nvSpPr>
          <p:cNvPr id="80" name="Text 71"/>
          <p:cNvSpPr/>
          <p:nvPr/>
        </p:nvSpPr>
        <p:spPr>
          <a:xfrm>
            <a:off x="6172795" y="4501009"/>
            <a:ext cx="2388989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2"/>
          <p:cNvSpPr/>
          <p:nvPr/>
        </p:nvSpPr>
        <p:spPr>
          <a:xfrm>
            <a:off x="6172795" y="4558010"/>
            <a:ext cx="127481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sports teams ready</a:t>
            </a:r>
            <a:endParaRPr lang="en-US" sz="650" dirty="0"/>
          </a:p>
        </p:txBody>
      </p:sp>
      <p:sp>
        <p:nvSpPr>
          <p:cNvPr id="82" name="Text 73"/>
          <p:cNvSpPr/>
          <p:nvPr/>
        </p:nvSpPr>
        <p:spPr>
          <a:xfrm>
            <a:off x="7402711" y="4558010"/>
            <a:ext cx="1274981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investors pitched</a:t>
            </a:r>
            <a:endParaRPr lang="en-US" sz="650" dirty="0"/>
          </a:p>
        </p:txBody>
      </p:sp>
      <p:sp>
        <p:nvSpPr>
          <p:cNvPr id="83" name="Text 74"/>
          <p:cNvSpPr/>
          <p:nvPr/>
        </p:nvSpPr>
        <p:spPr>
          <a:xfrm>
            <a:off x="6172795" y="4706838"/>
            <a:ext cx="127481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$31.8M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 projection</a:t>
            </a:r>
            <a:endParaRPr lang="en-US" sz="650" dirty="0"/>
          </a:p>
        </p:txBody>
      </p:sp>
      <p:sp>
        <p:nvSpPr>
          <p:cNvPr id="84" name="Text 75"/>
          <p:cNvSpPr/>
          <p:nvPr/>
        </p:nvSpPr>
        <p:spPr>
          <a:xfrm>
            <a:off x="7402711" y="4706838"/>
            <a:ext cx="1274981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</a:t>
            </a:r>
            <a:pPr algn="l" indent="0" marL="0">
              <a:lnSpc>
                <a:spcPts val="943"/>
              </a:lnSpc>
              <a:buNone/>
            </a:pPr>
            <a:r>
              <a:rPr lang="en-US" sz="650" b="1" dirty="0">
                <a:solidFill>
                  <a:srgbClr val="00D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$1.828B</a:t>
            </a:r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game income</a:t>
            </a:r>
            <a:endParaRPr lang="en-US" sz="650" dirty="0"/>
          </a:p>
        </p:txBody>
      </p:sp>
      <p:sp>
        <p:nvSpPr>
          <p:cNvPr id="85" name="Text 76"/>
          <p:cNvSpPr/>
          <p:nvPr/>
        </p:nvSpPr>
        <p:spPr>
          <a:xfrm>
            <a:off x="0" y="4942880"/>
            <a:ext cx="9144000" cy="206639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lIns="429260" tIns="0" rIns="429260" bIns="0" rtlCol="0" anchor="ctr"/>
          <a:lstStyle/>
          <a:p>
            <a:pPr algn="l" indent="0" marL="0">
              <a:buNone/>
            </a:pPr>
            <a:r>
              <a:rPr lang="en-US" sz="560" b="1" spc="101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· NIBLSCOIN.COM · QUEENS, NEW YORK · EST. 2017 · GITHUB.COM/DRB-APES/RESEARCH-BLEI-E</a:t>
            </a:r>
            <a:endParaRPr lang="en-US" sz="560" dirty="0"/>
          </a:p>
        </p:txBody>
      </p:sp>
      <p:sp>
        <p:nvSpPr>
          <p:cNvPr id="86" name="Text 77"/>
          <p:cNvSpPr/>
          <p:nvPr/>
        </p:nvSpPr>
        <p:spPr>
          <a:xfrm>
            <a:off x="0" y="4942880"/>
            <a:ext cx="9144000" cy="9525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0"/>
            <a:ext cx="2857500" cy="2571750"/>
          </a:xfrm>
          <a:prstGeom prst="ellipse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286720"/>
            <a:ext cx="2142530" cy="1856780"/>
          </a:xfrm>
          <a:prstGeom prst="ellipse">
            <a:avLst/>
          </a:prstGeom>
          <a:gradFill rotWithShape="1">
            <a:gsLst>
              <a:gs pos="0">
                <a:srgbClr val="00D4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820" y="257770"/>
            <a:ext cx="189560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4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DEVELOPMENT PIPELINE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429220" y="407640"/>
            <a:ext cx="8865549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Rookie to </a:t>
            </a:r>
            <a:pPr algn="l" indent="0" marL="0">
              <a:lnSpc>
                <a:spcPts val="2101"/>
              </a:lnSpc>
              <a:buNone/>
            </a:pPr>
            <a:r>
              <a:rPr lang="en-US" sz="191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</a:t>
            </a:r>
            <a:pPr algn="l" indent="0" marL="0">
              <a:lnSpc>
                <a:spcPts val="2101"/>
              </a:lnSpc>
              <a:buNone/>
            </a:pPr>
            <a:r>
              <a:rPr lang="en-US" sz="191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The 5-Stage Career Journey</a:t>
            </a:r>
            <a:endParaRPr lang="en-US" sz="1910" dirty="0"/>
          </a:p>
        </p:txBody>
      </p:sp>
      <p:sp>
        <p:nvSpPr>
          <p:cNvPr id="8" name="Text 6"/>
          <p:cNvSpPr/>
          <p:nvPr/>
        </p:nvSpPr>
        <p:spPr>
          <a:xfrm>
            <a:off x="429220" y="703659"/>
            <a:ext cx="911411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10,000-Hour Mastery Program  |  5-Year Career Path  |  24 Global Pro Clubs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429220" y="940445"/>
            <a:ext cx="8285559" cy="7590"/>
          </a:xfrm>
          <a:prstGeom prst="rect">
            <a:avLst/>
          </a:prstGeom>
          <a:gradFill rotWithShape="1">
            <a:gsLst>
              <a:gs pos="0">
                <a:srgbClr val="00D4FF"/>
              </a:gs>
              <a:gs pos="40000">
                <a:srgbClr val="00D4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65079" y="985391"/>
            <a:ext cx="13841" cy="395748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00D4FF">
                  <a:alpha val="60000"/>
                </a:srgbClr>
              </a:gs>
              <a:gs pos="90000">
                <a:srgbClr val="00D4F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sx="100000" sy="100000" kx="0" ky="0" algn="bl" rotWithShape="0" blurRad="57150" dist="50800" dir="16200000">
              <a:srgbClr val="00d4ff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3470" y="1035546"/>
            <a:ext cx="3643610" cy="830163"/>
          </a:xfrm>
          <a:prstGeom prst="roundRect">
            <a:avLst>
              <a:gd name="adj" fmla="val 8567"/>
            </a:avLst>
          </a:prstGeom>
          <a:solidFill>
            <a:srgbClr val="111827"/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47555" y="1446833"/>
            <a:ext cx="299591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0"/>
                </a:srgbClr>
              </a:gs>
              <a:gs pos="100000">
                <a:srgbClr val="00D4F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75484" y="1129903"/>
            <a:ext cx="271760" cy="271760"/>
          </a:xfrm>
          <a:prstGeom prst="ellipse">
            <a:avLst/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35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5070" y="1199489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85801" y="1116062"/>
            <a:ext cx="191869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b="1" spc="8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GRASSROOTS RECRUITMENT</a:t>
            </a:r>
            <a:endParaRPr lang="en-US" sz="560" dirty="0"/>
          </a:p>
        </p:txBody>
      </p:sp>
      <p:sp>
        <p:nvSpPr>
          <p:cNvPr id="16" name="Text 13"/>
          <p:cNvSpPr/>
          <p:nvPr/>
        </p:nvSpPr>
        <p:spPr>
          <a:xfrm>
            <a:off x="1818025" y="1244352"/>
            <a:ext cx="198646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&amp; Community Pathway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3769072" y="1458516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926238" y="1423095"/>
            <a:ext cx="1799674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&amp; community athlete recruitment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3769072" y="1583829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76906" y="1548408"/>
            <a:ext cx="204900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Tech+Ball Academy enrollment &amp; STEM curriculum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769072" y="1709142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628775" y="1673721"/>
            <a:ext cx="209713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NBL Unity Token rewards for academic performance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886920" y="1792337"/>
            <a:ext cx="3643610" cy="830163"/>
          </a:xfrm>
          <a:prstGeom prst="roundRect">
            <a:avLst>
              <a:gd name="adj" fmla="val 8567"/>
            </a:avLst>
          </a:prstGeom>
          <a:solidFill>
            <a:srgbClr val="111827"/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96854" y="2203624"/>
            <a:ext cx="299591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0"/>
                </a:srgbClr>
              </a:gs>
              <a:gs pos="100000">
                <a:srgbClr val="00D4FF">
                  <a:alpha val="5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96755" y="1886694"/>
            <a:ext cx="271760" cy="271760"/>
          </a:xfrm>
          <a:prstGeom prst="ellipse">
            <a:avLst/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35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6342" y="1956280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39507" y="1872853"/>
            <a:ext cx="33893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COLLEGIATE LEAGUE</a:t>
            </a:r>
            <a:endParaRPr lang="en-US" sz="560" dirty="0"/>
          </a:p>
        </p:txBody>
      </p:sp>
      <p:sp>
        <p:nvSpPr>
          <p:cNvPr id="28" name="Text 24"/>
          <p:cNvSpPr/>
          <p:nvPr/>
        </p:nvSpPr>
        <p:spPr>
          <a:xfrm>
            <a:off x="5339507" y="2001143"/>
            <a:ext cx="338930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Network &amp; DEI Development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5339507" y="2215307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418088" y="2179886"/>
            <a:ext cx="231896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60-club university network (UPenn, Georgetown, Howard)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5339507" y="2340620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418088" y="2305199"/>
            <a:ext cx="221337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entity per club — $5,000 seed capital ($300K total)</a:t>
            </a:r>
            <a:endParaRPr lang="en-US" sz="650" dirty="0"/>
          </a:p>
        </p:txBody>
      </p:sp>
      <p:sp>
        <p:nvSpPr>
          <p:cNvPr id="33" name="Text 29"/>
          <p:cNvSpPr/>
          <p:nvPr/>
        </p:nvSpPr>
        <p:spPr>
          <a:xfrm>
            <a:off x="5339507" y="2465933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418088" y="2430512"/>
            <a:ext cx="223842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Collegiate challenges, tournaments &amp; biometric tracking</a:t>
            </a:r>
            <a:endParaRPr lang="en-US" sz="650" dirty="0"/>
          </a:p>
        </p:txBody>
      </p:sp>
      <p:sp>
        <p:nvSpPr>
          <p:cNvPr id="35" name="Text 31"/>
          <p:cNvSpPr/>
          <p:nvPr/>
        </p:nvSpPr>
        <p:spPr>
          <a:xfrm>
            <a:off x="613470" y="2549128"/>
            <a:ext cx="3643610" cy="830163"/>
          </a:xfrm>
          <a:prstGeom prst="roundRect">
            <a:avLst>
              <a:gd name="adj" fmla="val 8567"/>
            </a:avLst>
          </a:prstGeom>
          <a:solidFill>
            <a:srgbClr val="111827"/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247555" y="2960415"/>
            <a:ext cx="299591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0"/>
                </a:srgbClr>
              </a:gs>
              <a:gs pos="100000">
                <a:srgbClr val="00D4F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3875484" y="2643485"/>
            <a:ext cx="271760" cy="271760"/>
          </a:xfrm>
          <a:prstGeom prst="ellipse">
            <a:avLst/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35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5070" y="2713071"/>
            <a:ext cx="132588" cy="1325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107138" y="2629644"/>
            <a:ext cx="16973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b="1" spc="8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DEP / SEMI-PRO BRIDGE</a:t>
            </a:r>
            <a:endParaRPr lang="en-US" sz="560" dirty="0"/>
          </a:p>
        </p:txBody>
      </p:sp>
      <p:sp>
        <p:nvSpPr>
          <p:cNvPr id="40" name="Text 35"/>
          <p:cNvSpPr/>
          <p:nvPr/>
        </p:nvSpPr>
        <p:spPr>
          <a:xfrm>
            <a:off x="1774314" y="2757934"/>
            <a:ext cx="203017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Entry Program &amp; NIL Profile</a:t>
            </a:r>
            <a:endParaRPr lang="en-US" sz="840" dirty="0"/>
          </a:p>
        </p:txBody>
      </p:sp>
      <p:sp>
        <p:nvSpPr>
          <p:cNvPr id="41" name="Text 36"/>
          <p:cNvSpPr/>
          <p:nvPr/>
        </p:nvSpPr>
        <p:spPr>
          <a:xfrm>
            <a:off x="3769072" y="2972098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1705719" y="2936677"/>
            <a:ext cx="20201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leagues bridge collegiate to professional play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3769072" y="3097411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1617152" y="3061990"/>
            <a:ext cx="2108761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tracking builds verifiable NIL market profile</a:t>
            </a:r>
            <a:endParaRPr lang="en-US" sz="650" dirty="0"/>
          </a:p>
        </p:txBody>
      </p:sp>
      <p:sp>
        <p:nvSpPr>
          <p:cNvPr id="45" name="Text 40"/>
          <p:cNvSpPr/>
          <p:nvPr/>
        </p:nvSpPr>
        <p:spPr>
          <a:xfrm>
            <a:off x="3769072" y="3222724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2129403" y="3187303"/>
            <a:ext cx="159650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athlete credentials issued on-chain</a:t>
            </a:r>
            <a:endParaRPr lang="en-US" sz="650" dirty="0"/>
          </a:p>
        </p:txBody>
      </p:sp>
      <p:sp>
        <p:nvSpPr>
          <p:cNvPr id="47" name="Text 42"/>
          <p:cNvSpPr/>
          <p:nvPr/>
        </p:nvSpPr>
        <p:spPr>
          <a:xfrm>
            <a:off x="4886920" y="3305919"/>
            <a:ext cx="3643610" cy="830163"/>
          </a:xfrm>
          <a:prstGeom prst="roundRect">
            <a:avLst>
              <a:gd name="adj" fmla="val 8567"/>
            </a:avLst>
          </a:prstGeom>
          <a:solidFill>
            <a:srgbClr val="111827"/>
          </a:soli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596854" y="3717206"/>
            <a:ext cx="299591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0"/>
                </a:srgbClr>
              </a:gs>
              <a:gs pos="100000">
                <a:srgbClr val="00D4FF">
                  <a:alpha val="50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4996755" y="3400276"/>
            <a:ext cx="271760" cy="271760"/>
          </a:xfrm>
          <a:prstGeom prst="ellipse">
            <a:avLst/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35000"/>
              </a:srgbClr>
            </a:solidFill>
          </a:ln>
          <a:effectLst>
            <a:outerShdw sx="100000" sy="100000" kx="0" ky="0" algn="bl" rotWithShape="0" blurRad="71120" dist="50800" dir="16200000">
              <a:srgbClr val="00d4ff">
                <a:alpha val="2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6342" y="3469862"/>
            <a:ext cx="132588" cy="13258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339507" y="3386435"/>
            <a:ext cx="33893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8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PROFESSIONAL DRAFT</a:t>
            </a:r>
            <a:endParaRPr lang="en-US" sz="560" dirty="0"/>
          </a:p>
        </p:txBody>
      </p:sp>
      <p:sp>
        <p:nvSpPr>
          <p:cNvPr id="52" name="Text 46"/>
          <p:cNvSpPr/>
          <p:nvPr/>
        </p:nvSpPr>
        <p:spPr>
          <a:xfrm>
            <a:off x="5339507" y="3514725"/>
            <a:ext cx="338930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Drafting &amp; PEI Instrument Issuance</a:t>
            </a:r>
            <a:endParaRPr lang="en-US" sz="840" dirty="0"/>
          </a:p>
        </p:txBody>
      </p:sp>
      <p:sp>
        <p:nvSpPr>
          <p:cNvPr id="53" name="Text 47"/>
          <p:cNvSpPr/>
          <p:nvPr/>
        </p:nvSpPr>
        <p:spPr>
          <a:xfrm>
            <a:off x="5339507" y="3728889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418088" y="3693468"/>
            <a:ext cx="223842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global pro clubs draft via biometric performance data</a:t>
            </a:r>
            <a:endParaRPr lang="en-US" sz="650" dirty="0"/>
          </a:p>
        </p:txBody>
      </p:sp>
      <p:sp>
        <p:nvSpPr>
          <p:cNvPr id="55" name="Text 49"/>
          <p:cNvSpPr/>
          <p:nvPr/>
        </p:nvSpPr>
        <p:spPr>
          <a:xfrm>
            <a:off x="5339507" y="3854202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5418088" y="3818781"/>
            <a:ext cx="226854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(Player Equity Instrument) issued at contract signing</a:t>
            </a:r>
            <a:endParaRPr lang="en-US" sz="650" dirty="0"/>
          </a:p>
        </p:txBody>
      </p:sp>
      <p:sp>
        <p:nvSpPr>
          <p:cNvPr id="57" name="Text 51"/>
          <p:cNvSpPr/>
          <p:nvPr/>
        </p:nvSpPr>
        <p:spPr>
          <a:xfrm>
            <a:off x="5339507" y="3979515"/>
            <a:ext cx="35421" cy="35421"/>
          </a:xfrm>
          <a:prstGeom prst="ellipse">
            <a:avLst/>
          </a:prstGeom>
          <a:solidFill>
            <a:srgbClr val="00D4FF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5418088" y="3944094"/>
            <a:ext cx="198630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valuation replaces traditional scouting</a:t>
            </a:r>
            <a:endParaRPr lang="en-US" sz="650" dirty="0"/>
          </a:p>
        </p:txBody>
      </p:sp>
      <p:sp>
        <p:nvSpPr>
          <p:cNvPr id="59" name="Text 53"/>
          <p:cNvSpPr/>
          <p:nvPr/>
        </p:nvSpPr>
        <p:spPr>
          <a:xfrm>
            <a:off x="613470" y="4062710"/>
            <a:ext cx="3643610" cy="830163"/>
          </a:xfrm>
          <a:prstGeom prst="roundRect">
            <a:avLst>
              <a:gd name="adj" fmla="val 8567"/>
            </a:avLst>
          </a:prstGeom>
          <a:gradFill rotWithShape="1">
            <a:gsLst>
              <a:gs pos="0">
                <a:srgbClr val="00D4FF">
                  <a:alpha val="6000"/>
                </a:srgbClr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4247555" y="4473997"/>
            <a:ext cx="299591" cy="7590"/>
          </a:xfrm>
          <a:prstGeom prst="rect">
            <a:avLst/>
          </a:prstGeom>
          <a:gradFill rotWithShape="1">
            <a:gsLst>
              <a:gs pos="0">
                <a:srgbClr val="00D4FF">
                  <a:alpha val="0"/>
                </a:srgbClr>
              </a:gs>
              <a:gs pos="100000">
                <a:srgbClr val="00D4FF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3875484" y="4157067"/>
            <a:ext cx="271760" cy="271760"/>
          </a:xfrm>
          <a:prstGeom prst="ellipse">
            <a:avLst/>
          </a:prstGeom>
          <a:solidFill>
            <a:srgbClr val="00D4FF">
              <a:alpha val="18000"/>
            </a:srgbClr>
          </a:solidFill>
          <a:ln w="9525">
            <a:solidFill>
              <a:srgbClr val="00D4FF">
                <a:alpha val="60000"/>
              </a:srgbClr>
            </a:solidFill>
          </a:ln>
          <a:effectLst>
            <a:outerShdw sx="100000" sy="100000" kx="0" ky="0" algn="bl" rotWithShape="0" blurRad="114300" dist="50800" dir="16200000">
              <a:srgbClr val="00d4ff">
                <a:alpha val="4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45070" y="4226653"/>
            <a:ext cx="132588" cy="132588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2245965" y="4143226"/>
            <a:ext cx="15585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0"/>
              </a:lnSpc>
              <a:buNone/>
            </a:pPr>
            <a:r>
              <a:rPr lang="en-US" sz="560" b="1" spc="84" kern="0" dirty="0">
                <a:solidFill>
                  <a:srgbClr val="00D4FF"/>
                </a:solidFill>
                <a:effectLst>
                  <a:glow rad="142875">
                    <a:srgbClr val="00D4FF">
                      <a:alpha val="150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PRO CLUB CAREER ★</a:t>
            </a:r>
            <a:endParaRPr lang="en-US" sz="560" dirty="0"/>
          </a:p>
        </p:txBody>
      </p:sp>
      <p:sp>
        <p:nvSpPr>
          <p:cNvPr id="64" name="Text 57"/>
          <p:cNvSpPr/>
          <p:nvPr/>
        </p:nvSpPr>
        <p:spPr>
          <a:xfrm>
            <a:off x="1642199" y="4271516"/>
            <a:ext cx="21622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Athlete &amp; Wealth Building</a:t>
            </a:r>
            <a:endParaRPr lang="en-US" sz="840" dirty="0"/>
          </a:p>
        </p:txBody>
      </p:sp>
      <p:sp>
        <p:nvSpPr>
          <p:cNvPr id="65" name="Text 58"/>
          <p:cNvSpPr/>
          <p:nvPr/>
        </p:nvSpPr>
        <p:spPr>
          <a:xfrm>
            <a:off x="3769072" y="4485680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1403836" y="4450259"/>
            <a:ext cx="232207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salary $400,000/year + $8,000 per season match</a:t>
            </a:r>
            <a:endParaRPr lang="en-US" sz="650" dirty="0"/>
          </a:p>
        </p:txBody>
      </p:sp>
      <p:sp>
        <p:nvSpPr>
          <p:cNvPr id="67" name="Text 60"/>
          <p:cNvSpPr/>
          <p:nvPr/>
        </p:nvSpPr>
        <p:spPr>
          <a:xfrm>
            <a:off x="3769072" y="4610993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1"/>
          <p:cNvSpPr/>
          <p:nvPr/>
        </p:nvSpPr>
        <p:spPr>
          <a:xfrm>
            <a:off x="1538079" y="4575572"/>
            <a:ext cx="218783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Career-Endowment Trust for long-term wealth creation</a:t>
            </a:r>
            <a:endParaRPr lang="en-US" sz="650" dirty="0"/>
          </a:p>
        </p:txBody>
      </p:sp>
      <p:sp>
        <p:nvSpPr>
          <p:cNvPr id="69" name="Text 62"/>
          <p:cNvSpPr/>
          <p:nvPr/>
        </p:nvSpPr>
        <p:spPr>
          <a:xfrm>
            <a:off x="3769072" y="4736306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3"/>
          <p:cNvSpPr/>
          <p:nvPr/>
        </p:nvSpPr>
        <p:spPr>
          <a:xfrm>
            <a:off x="1452295" y="4700885"/>
            <a:ext cx="2273618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global pro clubs — Eagles, North Stars, Lions &amp; more</a:t>
            </a:r>
            <a:endParaRPr lang="en-US" sz="650" dirty="0"/>
          </a:p>
        </p:txBody>
      </p:sp>
      <p:sp>
        <p:nvSpPr>
          <p:cNvPr id="71" name="Text 64"/>
          <p:cNvSpPr/>
          <p:nvPr/>
        </p:nvSpPr>
        <p:spPr>
          <a:xfrm>
            <a:off x="1098947" y="4814292"/>
            <a:ext cx="1454944" cy="228898"/>
          </a:xfrm>
          <a:prstGeom prst="roundRect">
            <a:avLst>
              <a:gd name="adj" fmla="val 93767"/>
            </a:avLst>
          </a:prstGeom>
          <a:solidFill>
            <a:srgbClr val="00D4FF">
              <a:alpha val="7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5"/>
          <p:cNvSpPr/>
          <p:nvPr/>
        </p:nvSpPr>
        <p:spPr>
          <a:xfrm>
            <a:off x="1222772" y="4859238"/>
            <a:ext cx="49833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hrs</a:t>
            </a:r>
            <a:endParaRPr lang="en-US" sz="730" dirty="0"/>
          </a:p>
        </p:txBody>
      </p:sp>
      <p:sp>
        <p:nvSpPr>
          <p:cNvPr id="73" name="Text 66"/>
          <p:cNvSpPr/>
          <p:nvPr/>
        </p:nvSpPr>
        <p:spPr>
          <a:xfrm>
            <a:off x="1732955" y="4871591"/>
            <a:ext cx="7590" cy="1143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1797695" y="4866829"/>
            <a:ext cx="6956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Program</a:t>
            </a:r>
            <a:endParaRPr lang="en-US" sz="650" dirty="0"/>
          </a:p>
        </p:txBody>
      </p:sp>
      <p:sp>
        <p:nvSpPr>
          <p:cNvPr id="75" name="Text 68"/>
          <p:cNvSpPr/>
          <p:nvPr/>
        </p:nvSpPr>
        <p:spPr>
          <a:xfrm>
            <a:off x="2640211" y="4814292"/>
            <a:ext cx="1191964" cy="228898"/>
          </a:xfrm>
          <a:prstGeom prst="roundRect">
            <a:avLst>
              <a:gd name="adj" fmla="val 93767"/>
            </a:avLst>
          </a:prstGeom>
          <a:solidFill>
            <a:srgbClr val="00D4FF">
              <a:alpha val="7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2764036" y="4859238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30" dirty="0"/>
          </a:p>
        </p:txBody>
      </p:sp>
      <p:sp>
        <p:nvSpPr>
          <p:cNvPr id="77" name="Text 70"/>
          <p:cNvSpPr/>
          <p:nvPr/>
        </p:nvSpPr>
        <p:spPr>
          <a:xfrm>
            <a:off x="2924175" y="4871591"/>
            <a:ext cx="7590" cy="1143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1"/>
          <p:cNvSpPr/>
          <p:nvPr/>
        </p:nvSpPr>
        <p:spPr>
          <a:xfrm>
            <a:off x="2988915" y="4866829"/>
            <a:ext cx="7913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Universities</a:t>
            </a:r>
            <a:endParaRPr lang="en-US" sz="650" dirty="0"/>
          </a:p>
        </p:txBody>
      </p:sp>
      <p:sp>
        <p:nvSpPr>
          <p:cNvPr id="79" name="Text 72"/>
          <p:cNvSpPr/>
          <p:nvPr/>
        </p:nvSpPr>
        <p:spPr>
          <a:xfrm>
            <a:off x="3918496" y="4814292"/>
            <a:ext cx="1523554" cy="228898"/>
          </a:xfrm>
          <a:prstGeom prst="roundRect">
            <a:avLst>
              <a:gd name="adj" fmla="val 93767"/>
            </a:avLst>
          </a:prstGeom>
          <a:solidFill>
            <a:srgbClr val="00D4FF">
              <a:alpha val="7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4042321" y="4859238"/>
            <a:ext cx="3115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730" dirty="0"/>
          </a:p>
        </p:txBody>
      </p:sp>
      <p:sp>
        <p:nvSpPr>
          <p:cNvPr id="81" name="Text 74"/>
          <p:cNvSpPr/>
          <p:nvPr/>
        </p:nvSpPr>
        <p:spPr>
          <a:xfrm>
            <a:off x="4382691" y="4871591"/>
            <a:ext cx="7590" cy="1143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5"/>
          <p:cNvSpPr/>
          <p:nvPr/>
        </p:nvSpPr>
        <p:spPr>
          <a:xfrm>
            <a:off x="4447431" y="4866829"/>
            <a:ext cx="95787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Seed Capital / Club</a:t>
            </a:r>
            <a:endParaRPr lang="en-US" sz="650" dirty="0"/>
          </a:p>
        </p:txBody>
      </p:sp>
      <p:sp>
        <p:nvSpPr>
          <p:cNvPr id="83" name="Text 76"/>
          <p:cNvSpPr/>
          <p:nvPr/>
        </p:nvSpPr>
        <p:spPr>
          <a:xfrm>
            <a:off x="5528370" y="4814292"/>
            <a:ext cx="1334393" cy="228898"/>
          </a:xfrm>
          <a:prstGeom prst="roundRect">
            <a:avLst>
              <a:gd name="adj" fmla="val 93767"/>
            </a:avLst>
          </a:prstGeom>
          <a:solidFill>
            <a:srgbClr val="00D4FF">
              <a:alpha val="7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7"/>
          <p:cNvSpPr/>
          <p:nvPr/>
        </p:nvSpPr>
        <p:spPr>
          <a:xfrm>
            <a:off x="5652195" y="4859238"/>
            <a:ext cx="3000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</a:t>
            </a:r>
            <a:endParaRPr lang="en-US" sz="730" dirty="0"/>
          </a:p>
        </p:txBody>
      </p:sp>
      <p:sp>
        <p:nvSpPr>
          <p:cNvPr id="85" name="Text 78"/>
          <p:cNvSpPr/>
          <p:nvPr/>
        </p:nvSpPr>
        <p:spPr>
          <a:xfrm>
            <a:off x="5982146" y="4871591"/>
            <a:ext cx="7590" cy="1143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6046887" y="4866829"/>
            <a:ext cx="76125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Pro Salary</a:t>
            </a:r>
            <a:endParaRPr lang="en-US" sz="650" dirty="0"/>
          </a:p>
        </p:txBody>
      </p:sp>
      <p:sp>
        <p:nvSpPr>
          <p:cNvPr id="87" name="Text 80"/>
          <p:cNvSpPr/>
          <p:nvPr/>
        </p:nvSpPr>
        <p:spPr>
          <a:xfrm>
            <a:off x="6949083" y="4814292"/>
            <a:ext cx="1095821" cy="228898"/>
          </a:xfrm>
          <a:prstGeom prst="roundRect">
            <a:avLst>
              <a:gd name="adj" fmla="val 93767"/>
            </a:avLst>
          </a:prstGeom>
          <a:solidFill>
            <a:srgbClr val="00D4FF">
              <a:alpha val="7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7072908" y="4859238"/>
            <a:ext cx="1132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30" dirty="0"/>
          </a:p>
        </p:txBody>
      </p:sp>
      <p:sp>
        <p:nvSpPr>
          <p:cNvPr id="89" name="Text 82"/>
          <p:cNvSpPr/>
          <p:nvPr/>
        </p:nvSpPr>
        <p:spPr>
          <a:xfrm>
            <a:off x="7233047" y="4871591"/>
            <a:ext cx="7590" cy="1143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3"/>
          <p:cNvSpPr/>
          <p:nvPr/>
        </p:nvSpPr>
        <p:spPr>
          <a:xfrm>
            <a:off x="7297787" y="4866829"/>
            <a:ext cx="6856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 Clubs</a:t>
            </a:r>
            <a:endParaRPr lang="en-US" sz="650" dirty="0"/>
          </a:p>
        </p:txBody>
      </p:sp>
      <p:sp>
        <p:nvSpPr>
          <p:cNvPr id="91" name="Text 84"/>
          <p:cNvSpPr/>
          <p:nvPr/>
        </p:nvSpPr>
        <p:spPr>
          <a:xfrm>
            <a:off x="429220" y="304205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00D4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4450705" y="1241673"/>
            <a:ext cx="242441" cy="266685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00330" dist="50800" dir="16200000">
              <a:srgbClr val="00d4ff">
                <a:alpha val="5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93" name="Text 86"/>
          <p:cNvSpPr/>
          <p:nvPr/>
        </p:nvSpPr>
        <p:spPr>
          <a:xfrm>
            <a:off x="4375993" y="1505694"/>
            <a:ext cx="399854" cy="153442"/>
          </a:xfrm>
          <a:prstGeom prst="roundRect">
            <a:avLst>
              <a:gd name="adj" fmla="val 93527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560" dirty="0"/>
          </a:p>
        </p:txBody>
      </p:sp>
      <p:sp>
        <p:nvSpPr>
          <p:cNvPr id="94" name="Text 87"/>
          <p:cNvSpPr/>
          <p:nvPr/>
        </p:nvSpPr>
        <p:spPr>
          <a:xfrm>
            <a:off x="4450779" y="1998464"/>
            <a:ext cx="242441" cy="266685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00330" dist="50800" dir="16200000">
              <a:srgbClr val="00d4ff">
                <a:alpha val="5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95" name="Text 88"/>
          <p:cNvSpPr/>
          <p:nvPr/>
        </p:nvSpPr>
        <p:spPr>
          <a:xfrm>
            <a:off x="4330824" y="2262485"/>
            <a:ext cx="491999" cy="153442"/>
          </a:xfrm>
          <a:prstGeom prst="roundRect">
            <a:avLst>
              <a:gd name="adj" fmla="val 93527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560" dirty="0"/>
          </a:p>
        </p:txBody>
      </p:sp>
      <p:sp>
        <p:nvSpPr>
          <p:cNvPr id="96" name="Text 89"/>
          <p:cNvSpPr/>
          <p:nvPr/>
        </p:nvSpPr>
        <p:spPr>
          <a:xfrm>
            <a:off x="4450779" y="2755255"/>
            <a:ext cx="242441" cy="266685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00330" dist="50800" dir="16200000">
              <a:srgbClr val="00d4ff">
                <a:alpha val="5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97" name="Text 90"/>
          <p:cNvSpPr/>
          <p:nvPr/>
        </p:nvSpPr>
        <p:spPr>
          <a:xfrm>
            <a:off x="4330824" y="3019276"/>
            <a:ext cx="491999" cy="153442"/>
          </a:xfrm>
          <a:prstGeom prst="roundRect">
            <a:avLst>
              <a:gd name="adj" fmla="val 93527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3–4</a:t>
            </a:r>
            <a:endParaRPr lang="en-US" sz="560" dirty="0"/>
          </a:p>
        </p:txBody>
      </p:sp>
      <p:sp>
        <p:nvSpPr>
          <p:cNvPr id="98" name="Text 91"/>
          <p:cNvSpPr/>
          <p:nvPr/>
        </p:nvSpPr>
        <p:spPr>
          <a:xfrm>
            <a:off x="4450779" y="3512046"/>
            <a:ext cx="242441" cy="266685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00330" dist="50800" dir="16200000">
              <a:srgbClr val="00d4ff">
                <a:alpha val="5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99" name="Text 92"/>
          <p:cNvSpPr/>
          <p:nvPr/>
        </p:nvSpPr>
        <p:spPr>
          <a:xfrm>
            <a:off x="4330824" y="3776067"/>
            <a:ext cx="491999" cy="153442"/>
          </a:xfrm>
          <a:prstGeom prst="roundRect">
            <a:avLst>
              <a:gd name="adj" fmla="val 93527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4–5</a:t>
            </a:r>
            <a:endParaRPr lang="en-US" sz="560" dirty="0"/>
          </a:p>
        </p:txBody>
      </p:sp>
      <p:sp>
        <p:nvSpPr>
          <p:cNvPr id="100" name="Text 93"/>
          <p:cNvSpPr/>
          <p:nvPr/>
        </p:nvSpPr>
        <p:spPr>
          <a:xfrm>
            <a:off x="4450705" y="4268837"/>
            <a:ext cx="242441" cy="266685"/>
          </a:xfrm>
          <a:prstGeom prst="ellipse">
            <a:avLst/>
          </a:prstGeom>
          <a:solidFill>
            <a:srgbClr val="00D4FF">
              <a:alpha val="12000"/>
            </a:srgbClr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143510" dist="50800" dir="16200000">
              <a:srgbClr val="00d4ff">
                <a:alpha val="7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101" name="Text 94"/>
          <p:cNvSpPr/>
          <p:nvPr/>
        </p:nvSpPr>
        <p:spPr>
          <a:xfrm>
            <a:off x="4352479" y="4532858"/>
            <a:ext cx="447824" cy="153442"/>
          </a:xfrm>
          <a:prstGeom prst="roundRect">
            <a:avLst>
              <a:gd name="adj" fmla="val 93527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>
                <a:alpha val="50000"/>
              </a:srgbClr>
            </a:solidFill>
          </a:ln>
        </p:spPr>
        <p:txBody>
          <a:bodyPr wrap="none" lIns="64770" tIns="13970" rIns="64770" bIns="1397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5+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0" y="0"/>
            <a:ext cx="3143250" cy="285750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143250"/>
            <a:ext cx="2142530" cy="2000250"/>
          </a:xfrm>
          <a:prstGeom prst="rect">
            <a:avLst/>
          </a:prstGeom>
          <a:gradFill rotWithShape="1">
            <a:gsLst>
              <a:gs pos="0">
                <a:srgbClr val="00D4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94848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71120" y="0"/>
                </a:moveTo>
                <a:lnTo>
                  <a:pt x="2633532" y="0"/>
                </a:lnTo>
                <a:lnTo>
                  <a:pt x="2649124" y="1730"/>
                </a:lnTo>
                <a:lnTo>
                  <a:pt x="2655446" y="3460"/>
                </a:lnTo>
                <a:lnTo>
                  <a:pt x="2660203" y="5190"/>
                </a:lnTo>
                <a:lnTo>
                  <a:pt x="2664134" y="6920"/>
                </a:lnTo>
                <a:lnTo>
                  <a:pt x="2667527" y="8651"/>
                </a:lnTo>
                <a:lnTo>
                  <a:pt x="2670530" y="10381"/>
                </a:lnTo>
                <a:lnTo>
                  <a:pt x="2673231" y="12111"/>
                </a:lnTo>
                <a:lnTo>
                  <a:pt x="26756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19599" y="948482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71120" y="0"/>
                </a:moveTo>
                <a:lnTo>
                  <a:pt x="2633532" y="0"/>
                </a:lnTo>
                <a:lnTo>
                  <a:pt x="2649124" y="1730"/>
                </a:lnTo>
                <a:lnTo>
                  <a:pt x="2655446" y="3460"/>
                </a:lnTo>
                <a:lnTo>
                  <a:pt x="2660203" y="5190"/>
                </a:lnTo>
                <a:lnTo>
                  <a:pt x="2664134" y="6920"/>
                </a:lnTo>
                <a:lnTo>
                  <a:pt x="2667527" y="8651"/>
                </a:lnTo>
                <a:lnTo>
                  <a:pt x="2670530" y="10381"/>
                </a:lnTo>
                <a:lnTo>
                  <a:pt x="2673231" y="12111"/>
                </a:lnTo>
                <a:lnTo>
                  <a:pt x="26756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9623" y="948482"/>
            <a:ext cx="2704805" cy="13841"/>
          </a:xfrm>
          <a:custGeom>
            <a:avLst/>
            <a:gdLst/>
            <a:ahLst/>
            <a:cxnLst/>
            <a:rect l="l" t="t" r="r" b="b"/>
            <a:pathLst>
              <a:path w="2704805" h="13841">
                <a:moveTo>
                  <a:pt x="71120" y="0"/>
                </a:moveTo>
                <a:lnTo>
                  <a:pt x="2633685" y="0"/>
                </a:lnTo>
                <a:lnTo>
                  <a:pt x="2649276" y="1730"/>
                </a:lnTo>
                <a:lnTo>
                  <a:pt x="2655598" y="3460"/>
                </a:lnTo>
                <a:lnTo>
                  <a:pt x="2660356" y="5190"/>
                </a:lnTo>
                <a:lnTo>
                  <a:pt x="2664287" y="6920"/>
                </a:lnTo>
                <a:lnTo>
                  <a:pt x="2667679" y="8651"/>
                </a:lnTo>
                <a:lnTo>
                  <a:pt x="2670682" y="10381"/>
                </a:lnTo>
                <a:lnTo>
                  <a:pt x="2673383" y="12111"/>
                </a:lnTo>
                <a:lnTo>
                  <a:pt x="267584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152501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71120" y="0"/>
                </a:moveTo>
                <a:lnTo>
                  <a:pt x="2633532" y="0"/>
                </a:lnTo>
                <a:lnTo>
                  <a:pt x="2649124" y="1730"/>
                </a:lnTo>
                <a:lnTo>
                  <a:pt x="2655446" y="3460"/>
                </a:lnTo>
                <a:lnTo>
                  <a:pt x="2660203" y="5190"/>
                </a:lnTo>
                <a:lnTo>
                  <a:pt x="2664134" y="6920"/>
                </a:lnTo>
                <a:lnTo>
                  <a:pt x="2667527" y="8651"/>
                </a:lnTo>
                <a:lnTo>
                  <a:pt x="2670530" y="10381"/>
                </a:lnTo>
                <a:lnTo>
                  <a:pt x="2673231" y="12111"/>
                </a:lnTo>
                <a:lnTo>
                  <a:pt x="26756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19599" y="2152501"/>
            <a:ext cx="2704652" cy="13841"/>
          </a:xfrm>
          <a:custGeom>
            <a:avLst/>
            <a:gdLst/>
            <a:ahLst/>
            <a:cxnLst/>
            <a:rect l="l" t="t" r="r" b="b"/>
            <a:pathLst>
              <a:path w="2704652" h="13841">
                <a:moveTo>
                  <a:pt x="71120" y="0"/>
                </a:moveTo>
                <a:lnTo>
                  <a:pt x="2633532" y="0"/>
                </a:lnTo>
                <a:lnTo>
                  <a:pt x="2649124" y="1730"/>
                </a:lnTo>
                <a:lnTo>
                  <a:pt x="2655446" y="3460"/>
                </a:lnTo>
                <a:lnTo>
                  <a:pt x="2660203" y="5190"/>
                </a:lnTo>
                <a:lnTo>
                  <a:pt x="2664134" y="6920"/>
                </a:lnTo>
                <a:lnTo>
                  <a:pt x="2667527" y="8651"/>
                </a:lnTo>
                <a:lnTo>
                  <a:pt x="2670530" y="10381"/>
                </a:lnTo>
                <a:lnTo>
                  <a:pt x="2673231" y="12111"/>
                </a:lnTo>
                <a:lnTo>
                  <a:pt x="267568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29623" y="2152501"/>
            <a:ext cx="2704805" cy="13841"/>
          </a:xfrm>
          <a:custGeom>
            <a:avLst/>
            <a:gdLst/>
            <a:ahLst/>
            <a:cxnLst/>
            <a:rect l="l" t="t" r="r" b="b"/>
            <a:pathLst>
              <a:path w="2704805" h="13841">
                <a:moveTo>
                  <a:pt x="71120" y="0"/>
                </a:moveTo>
                <a:lnTo>
                  <a:pt x="2633685" y="0"/>
                </a:lnTo>
                <a:lnTo>
                  <a:pt x="2649276" y="1730"/>
                </a:lnTo>
                <a:lnTo>
                  <a:pt x="2655598" y="3460"/>
                </a:lnTo>
                <a:lnTo>
                  <a:pt x="2660356" y="5190"/>
                </a:lnTo>
                <a:lnTo>
                  <a:pt x="2664287" y="6920"/>
                </a:lnTo>
                <a:lnTo>
                  <a:pt x="2667679" y="8651"/>
                </a:lnTo>
                <a:lnTo>
                  <a:pt x="2670682" y="10381"/>
                </a:lnTo>
                <a:lnTo>
                  <a:pt x="2673383" y="12111"/>
                </a:lnTo>
                <a:lnTo>
                  <a:pt x="267584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0D4FF">
                  <a:alpha val="55000"/>
                </a:srgbClr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85291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7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TOKEN ECOSYSTEM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400050" y="332482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b="1" spc="-3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</a:t>
            </a:r>
            <a:pPr algn="l" indent="0" marL="0">
              <a:lnSpc>
                <a:spcPts val="2101"/>
              </a:lnSpc>
              <a:buNone/>
            </a:pPr>
            <a:r>
              <a:rPr lang="en-US" sz="1910" spc="-30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Architecture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400050" y="620911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+ Retail + DeFi Revenue Streams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400050" y="817066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D4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71120" dist="50800" dir="16200000">
              <a:srgbClr val="00d4ff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938957"/>
            <a:ext cx="2723704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3875" y="1048792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7377" y="1132293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3776" y="1048792"/>
            <a:ext cx="228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01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923776" y="1169343"/>
            <a:ext cx="22837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Trading Fees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923776" y="1332756"/>
            <a:ext cx="211767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Micro-transaction fees on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BIM-APES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high-frequency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trades. Real-time algorithmic execution at institutional HFT scale.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2741265" y="1718370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030" dirty="0"/>
          </a:p>
        </p:txBody>
      </p:sp>
      <p:sp>
        <p:nvSpPr>
          <p:cNvPr id="23" name="Text 20"/>
          <p:cNvSpPr/>
          <p:nvPr/>
        </p:nvSpPr>
        <p:spPr>
          <a:xfrm>
            <a:off x="3210074" y="938957"/>
            <a:ext cx="2723704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33899" y="1048792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7400" y="1132293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33800" y="1048792"/>
            <a:ext cx="228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02</a:t>
            </a:r>
            <a:endParaRPr lang="en-US" sz="560" dirty="0"/>
          </a:p>
        </p:txBody>
      </p:sp>
      <p:sp>
        <p:nvSpPr>
          <p:cNvPr id="27" name="Text 23"/>
          <p:cNvSpPr/>
          <p:nvPr/>
        </p:nvSpPr>
        <p:spPr>
          <a:xfrm>
            <a:off x="3733800" y="1169343"/>
            <a:ext cx="22837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BLEI-E Terminal Subscriptions</a:t>
            </a:r>
            <a:endParaRPr lang="en-US" sz="840" dirty="0"/>
          </a:p>
        </p:txBody>
      </p:sp>
      <p:sp>
        <p:nvSpPr>
          <p:cNvPr id="28" name="Text 24"/>
          <p:cNvSpPr/>
          <p:nvPr/>
        </p:nvSpPr>
        <p:spPr>
          <a:xfrm>
            <a:off x="3733800" y="1332756"/>
            <a:ext cx="211767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Bloomberg Terminal equivalent for real-time biometric latency feeds &amp; performance analytics.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5551289" y="1718370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030" dirty="0"/>
          </a:p>
        </p:txBody>
      </p:sp>
      <p:sp>
        <p:nvSpPr>
          <p:cNvPr id="30" name="Text 26"/>
          <p:cNvSpPr/>
          <p:nvPr/>
        </p:nvSpPr>
        <p:spPr>
          <a:xfrm>
            <a:off x="6020098" y="938957"/>
            <a:ext cx="2723852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143923" y="1048792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7424" y="1132293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43824" y="1048792"/>
            <a:ext cx="228393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03</a:t>
            </a:r>
            <a:endParaRPr lang="en-US" sz="560" dirty="0"/>
          </a:p>
        </p:txBody>
      </p:sp>
      <p:sp>
        <p:nvSpPr>
          <p:cNvPr id="34" name="Text 29"/>
          <p:cNvSpPr/>
          <p:nvPr/>
        </p:nvSpPr>
        <p:spPr>
          <a:xfrm>
            <a:off x="6543824" y="1169343"/>
            <a:ext cx="228393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DBBI Bond Issuance</a:t>
            </a:r>
            <a:endParaRPr lang="en-US" sz="840" dirty="0"/>
          </a:p>
        </p:txBody>
      </p:sp>
      <p:sp>
        <p:nvSpPr>
          <p:cNvPr id="35" name="Text 30"/>
          <p:cNvSpPr/>
          <p:nvPr/>
        </p:nvSpPr>
        <p:spPr>
          <a:xfrm>
            <a:off x="6543824" y="1332756"/>
            <a:ext cx="2117827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fees for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athlete debt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securitization. AAA Senior → High-Yield bonds. Sets yield curve for the full ecosystem.</a:t>
            </a:r>
            <a:endParaRPr lang="en-US" sz="680" dirty="0"/>
          </a:p>
        </p:txBody>
      </p:sp>
      <p:sp>
        <p:nvSpPr>
          <p:cNvPr id="36" name="Text 31"/>
          <p:cNvSpPr/>
          <p:nvPr/>
        </p:nvSpPr>
        <p:spPr>
          <a:xfrm>
            <a:off x="8361462" y="1718370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030" dirty="0"/>
          </a:p>
        </p:txBody>
      </p:sp>
      <p:sp>
        <p:nvSpPr>
          <p:cNvPr id="37" name="Text 32"/>
          <p:cNvSpPr/>
          <p:nvPr/>
        </p:nvSpPr>
        <p:spPr>
          <a:xfrm>
            <a:off x="400050" y="2142976"/>
            <a:ext cx="2723704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23875" y="2252811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377" y="2336313"/>
            <a:ext cx="132588" cy="13258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23776" y="2252811"/>
            <a:ext cx="228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04</a:t>
            </a:r>
            <a:endParaRPr lang="en-US" sz="560" dirty="0"/>
          </a:p>
        </p:txBody>
      </p:sp>
      <p:sp>
        <p:nvSpPr>
          <p:cNvPr id="41" name="Text 35"/>
          <p:cNvSpPr/>
          <p:nvPr/>
        </p:nvSpPr>
        <p:spPr>
          <a:xfrm>
            <a:off x="923776" y="2373362"/>
            <a:ext cx="22837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Licensing</a:t>
            </a:r>
            <a:endParaRPr lang="en-US" sz="840" dirty="0"/>
          </a:p>
        </p:txBody>
      </p:sp>
      <p:sp>
        <p:nvSpPr>
          <p:cNvPr id="42" name="Text 36"/>
          <p:cNvSpPr/>
          <p:nvPr/>
        </p:nvSpPr>
        <p:spPr>
          <a:xfrm>
            <a:off x="923776" y="2536775"/>
            <a:ext cx="211767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Tech+Ball $350+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unit · Motion Goal Device · Non-exclusive manufacturing license. IP-protected &amp; globally scalable.</a:t>
            </a:r>
            <a:endParaRPr lang="en-US" sz="680" dirty="0"/>
          </a:p>
        </p:txBody>
      </p:sp>
      <p:sp>
        <p:nvSpPr>
          <p:cNvPr id="43" name="Text 37"/>
          <p:cNvSpPr/>
          <p:nvPr/>
        </p:nvSpPr>
        <p:spPr>
          <a:xfrm>
            <a:off x="2741265" y="2922389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030" dirty="0"/>
          </a:p>
        </p:txBody>
      </p:sp>
      <p:sp>
        <p:nvSpPr>
          <p:cNvPr id="44" name="Text 38"/>
          <p:cNvSpPr/>
          <p:nvPr/>
        </p:nvSpPr>
        <p:spPr>
          <a:xfrm>
            <a:off x="3210074" y="2142976"/>
            <a:ext cx="2723704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3333899" y="2252811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7400" y="2336313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733800" y="2252811"/>
            <a:ext cx="228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05</a:t>
            </a:r>
            <a:endParaRPr lang="en-US" sz="560" dirty="0"/>
          </a:p>
        </p:txBody>
      </p:sp>
      <p:sp>
        <p:nvSpPr>
          <p:cNvPr id="48" name="Text 41"/>
          <p:cNvSpPr/>
          <p:nvPr/>
        </p:nvSpPr>
        <p:spPr>
          <a:xfrm>
            <a:off x="3733800" y="2373362"/>
            <a:ext cx="228376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&amp; Media</a:t>
            </a:r>
            <a:endParaRPr lang="en-US" sz="840" dirty="0"/>
          </a:p>
        </p:txBody>
      </p:sp>
      <p:sp>
        <p:nvSpPr>
          <p:cNvPr id="49" name="Text 42"/>
          <p:cNvSpPr/>
          <p:nvPr/>
        </p:nvSpPr>
        <p:spPr>
          <a:xfrm>
            <a:off x="3733800" y="2536775"/>
            <a:ext cx="2117675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Club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$150+/event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Concerts &amp; Festivals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$350+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Memberships from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$50/wk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Streaming: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· ESPN · Netflix · Peacock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80" dirty="0"/>
          </a:p>
        </p:txBody>
      </p:sp>
      <p:sp>
        <p:nvSpPr>
          <p:cNvPr id="50" name="Text 43"/>
          <p:cNvSpPr/>
          <p:nvPr/>
        </p:nvSpPr>
        <p:spPr>
          <a:xfrm>
            <a:off x="5551289" y="2922389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030" dirty="0"/>
          </a:p>
        </p:txBody>
      </p:sp>
      <p:sp>
        <p:nvSpPr>
          <p:cNvPr id="51" name="Text 44"/>
          <p:cNvSpPr/>
          <p:nvPr/>
        </p:nvSpPr>
        <p:spPr>
          <a:xfrm>
            <a:off x="6020098" y="2142976"/>
            <a:ext cx="2723852" cy="1117699"/>
          </a:xfrm>
          <a:prstGeom prst="roundRect">
            <a:avLst>
              <a:gd name="adj" fmla="val 6363"/>
            </a:avLst>
          </a:prstGeom>
          <a:gradFill rotWithShape="1">
            <a:gsLst>
              <a:gs pos="0">
                <a:srgbClr val="151F35"/>
              </a:gs>
              <a:gs pos="100000">
                <a:srgbClr val="111827"/>
              </a:gs>
            </a:gsLst>
            <a:lin ang="2700000" scaled="1"/>
          </a:gradFill>
          <a:ln w="9525">
            <a:solidFill>
              <a:srgbClr val="00D4FF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6143923" y="2252811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18000"/>
              </a:srgbClr>
            </a:solidFill>
          </a:ln>
          <a:effectLst>
            <a:outerShdw sx="100000" sy="100000" kx="0" ky="0" algn="bl" rotWithShape="0" blurRad="100330" dist="50800" dir="16200000">
              <a:srgbClr val="00d4ff">
                <a:alpha val="12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7424" y="2336313"/>
            <a:ext cx="132588" cy="132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543824" y="2252811"/>
            <a:ext cx="228393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11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06</a:t>
            </a:r>
            <a:endParaRPr lang="en-US" sz="560" dirty="0"/>
          </a:p>
        </p:txBody>
      </p:sp>
      <p:sp>
        <p:nvSpPr>
          <p:cNvPr id="55" name="Text 47"/>
          <p:cNvSpPr/>
          <p:nvPr/>
        </p:nvSpPr>
        <p:spPr>
          <a:xfrm>
            <a:off x="6543824" y="2373362"/>
            <a:ext cx="228393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spcAft>
                <a:spcPts val="280"/>
              </a:spcAft>
              <a:buNone/>
            </a:pPr>
            <a:r>
              <a:rPr lang="en-US" sz="84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Ecosystem — 5 Classes</a:t>
            </a:r>
            <a:endParaRPr lang="en-US" sz="840" dirty="0"/>
          </a:p>
        </p:txBody>
      </p:sp>
      <p:sp>
        <p:nvSpPr>
          <p:cNvPr id="56" name="Text 48"/>
          <p:cNvSpPr/>
          <p:nvPr/>
        </p:nvSpPr>
        <p:spPr>
          <a:xfrm>
            <a:off x="6543824" y="2536775"/>
            <a:ext cx="470446" cy="168786"/>
          </a:xfrm>
          <a:prstGeom prst="roundRect">
            <a:avLst>
              <a:gd name="adj" fmla="val 8502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NBL Coin</a:t>
            </a:r>
            <a:endParaRPr lang="en-US" sz="560" dirty="0"/>
          </a:p>
        </p:txBody>
      </p:sp>
      <p:sp>
        <p:nvSpPr>
          <p:cNvPr id="57" name="Text 49"/>
          <p:cNvSpPr/>
          <p:nvPr/>
        </p:nvSpPr>
        <p:spPr>
          <a:xfrm>
            <a:off x="7043440" y="2536775"/>
            <a:ext cx="541288" cy="168786"/>
          </a:xfrm>
          <a:prstGeom prst="roundRect">
            <a:avLst>
              <a:gd name="adj" fmla="val 8502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WNBL Coin</a:t>
            </a:r>
            <a:endParaRPr lang="en-US" sz="560" dirty="0"/>
          </a:p>
        </p:txBody>
      </p:sp>
      <p:sp>
        <p:nvSpPr>
          <p:cNvPr id="58" name="Text 50"/>
          <p:cNvSpPr/>
          <p:nvPr/>
        </p:nvSpPr>
        <p:spPr>
          <a:xfrm>
            <a:off x="7613898" y="2536775"/>
            <a:ext cx="494109" cy="168786"/>
          </a:xfrm>
          <a:prstGeom prst="roundRect">
            <a:avLst>
              <a:gd name="adj" fmla="val 8502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NBL Unity</a:t>
            </a:r>
            <a:endParaRPr lang="en-US" sz="560" dirty="0"/>
          </a:p>
        </p:txBody>
      </p:sp>
      <p:sp>
        <p:nvSpPr>
          <p:cNvPr id="59" name="Text 51"/>
          <p:cNvSpPr/>
          <p:nvPr/>
        </p:nvSpPr>
        <p:spPr>
          <a:xfrm>
            <a:off x="6543824" y="2719388"/>
            <a:ext cx="513904" cy="168786"/>
          </a:xfrm>
          <a:prstGeom prst="roundRect">
            <a:avLst>
              <a:gd name="adj" fmla="val 8502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NBL Prime</a:t>
            </a:r>
            <a:endParaRPr lang="en-US" sz="560" dirty="0"/>
          </a:p>
        </p:txBody>
      </p:sp>
      <p:sp>
        <p:nvSpPr>
          <p:cNvPr id="60" name="Text 52"/>
          <p:cNvSpPr/>
          <p:nvPr/>
        </p:nvSpPr>
        <p:spPr>
          <a:xfrm>
            <a:off x="7086898" y="2719388"/>
            <a:ext cx="664518" cy="168786"/>
          </a:xfrm>
          <a:prstGeom prst="roundRect">
            <a:avLst>
              <a:gd name="adj" fmla="val 85025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Premier</a:t>
            </a:r>
            <a:endParaRPr lang="en-US" sz="560" dirty="0"/>
          </a:p>
        </p:txBody>
      </p:sp>
      <p:sp>
        <p:nvSpPr>
          <p:cNvPr id="61" name="Text 53"/>
          <p:cNvSpPr/>
          <p:nvPr/>
        </p:nvSpPr>
        <p:spPr>
          <a:xfrm>
            <a:off x="6543824" y="2908250"/>
            <a:ext cx="2117827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Women's · Education · Culture ·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HFT</a:t>
            </a:r>
            <a:endParaRPr lang="en-US" sz="680" dirty="0"/>
          </a:p>
        </p:txBody>
      </p:sp>
      <p:sp>
        <p:nvSpPr>
          <p:cNvPr id="62" name="Text 54"/>
          <p:cNvSpPr/>
          <p:nvPr/>
        </p:nvSpPr>
        <p:spPr>
          <a:xfrm>
            <a:off x="8361462" y="2922389"/>
            <a:ext cx="30670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00D4FF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030" dirty="0"/>
          </a:p>
        </p:txBody>
      </p:sp>
      <p:sp>
        <p:nvSpPr>
          <p:cNvPr id="63" name="Text 55"/>
          <p:cNvSpPr/>
          <p:nvPr/>
        </p:nvSpPr>
        <p:spPr>
          <a:xfrm>
            <a:off x="400050" y="3339405"/>
            <a:ext cx="8343900" cy="281732"/>
          </a:xfrm>
          <a:prstGeom prst="roundRect">
            <a:avLst>
              <a:gd name="adj" fmla="val 20285"/>
            </a:avLst>
          </a:prstGeom>
          <a:gradFill rotWithShape="1">
            <a:gsLst>
              <a:gs pos="0">
                <a:srgbClr val="00D4FF">
                  <a:alpha val="7000"/>
                </a:srgbClr>
              </a:gs>
              <a:gs pos="6000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>
            <a:solidFill>
              <a:srgbClr val="00D4FF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553045" y="3455491"/>
            <a:ext cx="49411" cy="4941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57150" dist="50800" dir="16200000">
              <a:srgbClr val="00d4ff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716756" y="3413671"/>
            <a:ext cx="6959188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units from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Memberships from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$50/week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Fractional Shares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– $1,000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Analytics Terminals: </a:t>
            </a:r>
            <a:pPr algn="l" indent="0" marL="0">
              <a:lnSpc>
                <a:spcPts val="1050"/>
              </a:lnSpc>
              <a:buNone/>
            </a:pPr>
            <a:r>
              <a:rPr lang="en-US" sz="700" b="1" spc="2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Pricing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7354639" y="3421261"/>
            <a:ext cx="13599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0" kern="0" dirty="0">
                <a:solidFill>
                  <a:srgbClr val="00D4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· NIBLSCOIN.COM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571500"/>
            <a:ext cx="2429470" cy="3000970"/>
          </a:xfrm>
          <a:prstGeom prst="ellipse">
            <a:avLst/>
          </a:prstGeom>
          <a:gradFill rotWithShape="1">
            <a:gsLst>
              <a:gs pos="0">
                <a:srgbClr val="00E5A0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4530" y="429220"/>
            <a:ext cx="2429470" cy="300097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00140" y="0"/>
            <a:ext cx="2143720" cy="1428750"/>
          </a:xfrm>
          <a:prstGeom prst="ellipse">
            <a:avLst/>
          </a:prstGeom>
          <a:gradFill rotWithShape="1">
            <a:gsLst>
              <a:gs pos="0">
                <a:srgbClr val="00D4FF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68205" y="834926"/>
            <a:ext cx="7590" cy="384289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D4FF">
                  <a:alpha val="30000"/>
                </a:srgbClr>
              </a:gs>
              <a:gs pos="70000">
                <a:srgbClr val="00D4F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220" y="200620"/>
            <a:ext cx="651684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55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 ·  INSTITUTIONAL INFRASTRUCTURE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429220" y="347811"/>
            <a:ext cx="6339109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7"/>
              </a:lnSpc>
              <a:buNone/>
            </a:pPr>
            <a:r>
              <a:rPr lang="en-US" sz="1910" b="1" spc="-19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Institutional-Grade</a:t>
            </a:r>
            <a:pPr algn="l" indent="0" marL="0">
              <a:lnSpc>
                <a:spcPts val="2197"/>
              </a:lnSpc>
              <a:buNone/>
            </a:pPr>
            <a:r>
              <a:rPr lang="en-US" sz="1910" spc="-19" kern="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Compliance &amp; Technology</a:t>
            </a:r>
            <a:endParaRPr lang="en-US" sz="1910" dirty="0"/>
          </a:p>
        </p:txBody>
      </p:sp>
      <p:sp>
        <p:nvSpPr>
          <p:cNvPr id="10" name="Text 8"/>
          <p:cNvSpPr/>
          <p:nvPr/>
        </p:nvSpPr>
        <p:spPr>
          <a:xfrm>
            <a:off x="6353621" y="272951"/>
            <a:ext cx="2408381" cy="223391"/>
          </a:xfrm>
          <a:prstGeom prst="roundRect">
            <a:avLst>
              <a:gd name="adj" fmla="val 64242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222220" tIns="43180" rIns="100330" bIns="43180" rtlCol="0" anchor="ctr"/>
          <a:lstStyle/>
          <a:p>
            <a:pPr algn="l" indent="0" marL="0">
              <a:buNone/>
            </a:pPr>
            <a:r>
              <a:rPr lang="en-US" sz="62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· NYDFS · BIPA · AWS · HYPERLEDGER</a:t>
            </a:r>
            <a:endParaRPr lang="en-US" sz="6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9533" y="318352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220" y="713036"/>
            <a:ext cx="8285559" cy="7590"/>
          </a:xfrm>
          <a:prstGeom prst="rect">
            <a:avLst/>
          </a:prstGeom>
          <a:gradFill rotWithShape="1">
            <a:gsLst>
              <a:gs pos="0">
                <a:srgbClr val="00E5A0"/>
              </a:gs>
              <a:gs pos="33333">
                <a:srgbClr val="00D4FF">
                  <a:alpha val="50000"/>
                </a:srgbClr>
              </a:gs>
              <a:gs pos="66667">
                <a:srgbClr val="4F8E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29220" y="834926"/>
            <a:ext cx="4042470" cy="3957191"/>
          </a:xfrm>
          <a:prstGeom prst="roundRect">
            <a:avLst>
              <a:gd name="adj" fmla="val 2888"/>
            </a:avLst>
          </a:prstGeom>
          <a:gradFill rotWithShape="1">
            <a:gsLst>
              <a:gs pos="0">
                <a:srgbClr val="00E5A0">
                  <a:alpha val="6000"/>
                </a:srgbClr>
              </a:gs>
              <a:gs pos="60000">
                <a:srgbClr val="111827">
                  <a:alpha val="95000"/>
                </a:srgbClr>
              </a:gs>
            </a:gsLst>
            <a:lin ang="3300000" scaled="1"/>
          </a:gradFill>
          <a:ln w="9525">
            <a:solidFill>
              <a:srgbClr val="00E5A0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29220" y="834926"/>
            <a:ext cx="642620" cy="642620"/>
          </a:xfrm>
          <a:custGeom>
            <a:avLst/>
            <a:gdLst/>
            <a:ahLst/>
            <a:cxnLst/>
            <a:rect l="l" t="t" r="r" b="b"/>
            <a:pathLst>
              <a:path w="642620" h="642620">
                <a:moveTo>
                  <a:pt x="642620" y="213995"/>
                </a:moveTo>
                <a:lnTo>
                  <a:pt x="640556" y="256008"/>
                </a:lnTo>
                <a:lnTo>
                  <a:pt x="634384" y="297616"/>
                </a:lnTo>
                <a:lnTo>
                  <a:pt x="624164" y="338419"/>
                </a:lnTo>
                <a:lnTo>
                  <a:pt x="609993" y="378023"/>
                </a:lnTo>
                <a:lnTo>
                  <a:pt x="592009" y="416048"/>
                </a:lnTo>
                <a:lnTo>
                  <a:pt x="570384" y="452127"/>
                </a:lnTo>
                <a:lnTo>
                  <a:pt x="545327" y="485912"/>
                </a:lnTo>
                <a:lnTo>
                  <a:pt x="517079" y="517079"/>
                </a:lnTo>
                <a:lnTo>
                  <a:pt x="485912" y="545327"/>
                </a:lnTo>
                <a:lnTo>
                  <a:pt x="452127" y="570384"/>
                </a:lnTo>
                <a:lnTo>
                  <a:pt x="416048" y="592009"/>
                </a:lnTo>
                <a:lnTo>
                  <a:pt x="378023" y="609993"/>
                </a:lnTo>
                <a:lnTo>
                  <a:pt x="338419" y="624164"/>
                </a:lnTo>
                <a:lnTo>
                  <a:pt x="297616" y="634384"/>
                </a:lnTo>
                <a:lnTo>
                  <a:pt x="256008" y="640556"/>
                </a:lnTo>
                <a:lnTo>
                  <a:pt x="213995" y="642620"/>
                </a:lnTo>
                <a:lnTo>
                  <a:pt x="171983" y="640556"/>
                </a:lnTo>
                <a:lnTo>
                  <a:pt x="130375" y="634384"/>
                </a:lnTo>
                <a:lnTo>
                  <a:pt x="89572" y="624164"/>
                </a:lnTo>
                <a:lnTo>
                  <a:pt x="49968" y="609993"/>
                </a:lnTo>
                <a:lnTo>
                  <a:pt x="11943" y="592009"/>
                </a:lnTo>
                <a:lnTo>
                  <a:pt x="0" y="582597"/>
                </a:lnTo>
                <a:lnTo>
                  <a:pt x="582597" y="0"/>
                </a:lnTo>
                <a:lnTo>
                  <a:pt x="592009" y="11943"/>
                </a:lnTo>
                <a:lnTo>
                  <a:pt x="609993" y="49968"/>
                </a:lnTo>
                <a:lnTo>
                  <a:pt x="624164" y="89572"/>
                </a:lnTo>
                <a:lnTo>
                  <a:pt x="634384" y="130375"/>
                </a:lnTo>
                <a:lnTo>
                  <a:pt x="640556" y="171983"/>
                </a:lnTo>
                <a:lnTo>
                  <a:pt x="642620" y="213995"/>
                </a:lnTo>
                <a:lnTo>
                  <a:pt x="0" y="114300"/>
                </a:lnTo>
                <a:lnTo>
                  <a:pt x="2196" y="92001"/>
                </a:lnTo>
                <a:lnTo>
                  <a:pt x="8701" y="70559"/>
                </a:lnTo>
                <a:lnTo>
                  <a:pt x="19263" y="50798"/>
                </a:lnTo>
                <a:lnTo>
                  <a:pt x="33478" y="33478"/>
                </a:lnTo>
                <a:lnTo>
                  <a:pt x="50798" y="19263"/>
                </a:lnTo>
                <a:lnTo>
                  <a:pt x="70559" y="8701"/>
                </a:lnTo>
                <a:lnTo>
                  <a:pt x="92001" y="2196"/>
                </a:lnTo>
                <a:lnTo>
                  <a:pt x="114300" y="0"/>
                </a:lnTo>
                <a:close/>
              </a:path>
            </a:pathLst>
          </a:custGeom>
          <a:gradFill rotWithShape="1">
            <a:gsLst>
              <a:gs pos="0">
                <a:srgbClr val="00E5A0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0195" y="1392287"/>
            <a:ext cx="3680520" cy="9525"/>
          </a:xfrm>
          <a:prstGeom prst="rect">
            <a:avLst/>
          </a:prstGeom>
          <a:solidFill>
            <a:srgbClr val="00E5A0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0195" y="997148"/>
            <a:ext cx="299591" cy="299591"/>
          </a:xfrm>
          <a:prstGeom prst="roundRect">
            <a:avLst>
              <a:gd name="adj" fmla="val 28826"/>
            </a:avLst>
          </a:prstGeom>
          <a:solidFill>
            <a:srgbClr val="00E5A0">
              <a:alpha val="15000"/>
            </a:srgbClr>
          </a:solidFill>
          <a:ln/>
          <a:effectLst>
            <a:outerShdw sx="100000" sy="100000" kx="0" ky="0" algn="bl" rotWithShape="0" blurRad="114300" dist="50800" dir="16200000">
              <a:srgbClr val="00e5a0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697" y="1080650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96107" y="987921"/>
            <a:ext cx="204704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40" kern="0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COMPLIANCE FRAMEWORK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996107" y="1187946"/>
            <a:ext cx="20470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3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 INFRASTRUCTURE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610195" y="1502122"/>
            <a:ext cx="1895585" cy="168920"/>
          </a:xfrm>
          <a:prstGeom prst="roundRect">
            <a:avLst>
              <a:gd name="adj" fmla="val 84958"/>
            </a:avLst>
          </a:prstGeom>
          <a:solidFill>
            <a:srgbClr val="00E5A0">
              <a:alpha val="12000"/>
            </a:srgbClr>
          </a:solidFill>
          <a:ln w="9525">
            <a:solidFill>
              <a:srgbClr val="00E5A0">
                <a:alpha val="30000"/>
              </a:srgbClr>
            </a:solidFill>
          </a:ln>
        </p:spPr>
        <p:txBody>
          <a:bodyPr wrap="none" lIns="148848" tIns="21590" rIns="71120" bIns="21590" rtlCol="0" anchor="ctr"/>
          <a:lstStyle/>
          <a:p>
            <a:pPr algn="l" indent="0" marL="0">
              <a:buNone/>
            </a:pPr>
            <a:r>
              <a:rPr lang="en-US" sz="560" b="1" spc="67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 ·  U.S. SECURITIES COMPLIANCE</a:t>
            </a:r>
            <a:endParaRPr lang="en-US" sz="56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835" y="1520214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2766" y="1706463"/>
            <a:ext cx="332889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Broker-Dealer registration + Alternative Trading System (ATS) designation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610195" y="1749623"/>
            <a:ext cx="35421" cy="35421"/>
          </a:xfrm>
          <a:prstGeom prst="ellipse">
            <a:avLst/>
          </a:prstGeom>
          <a:solidFill>
            <a:srgbClr val="00E5A0"/>
          </a:solidFill>
          <a:ln/>
          <a:effectLst>
            <a:outerShdw sx="100000" sy="100000" kx="0" ky="0" algn="bl" rotWithShape="0" blurRad="43180" dist="50800" dir="16200000">
              <a:srgbClr val="00e5a0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02766" y="1865412"/>
            <a:ext cx="293550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TET, PEI, DBBI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classified as securities under the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Howey Test</a:t>
            </a:r>
            <a:endParaRPr lang="en-US" sz="730" dirty="0"/>
          </a:p>
        </p:txBody>
      </p:sp>
      <p:sp>
        <p:nvSpPr>
          <p:cNvPr id="25" name="Text 20"/>
          <p:cNvSpPr/>
          <p:nvPr/>
        </p:nvSpPr>
        <p:spPr>
          <a:xfrm>
            <a:off x="610195" y="1908572"/>
            <a:ext cx="35421" cy="35421"/>
          </a:xfrm>
          <a:prstGeom prst="ellipse">
            <a:avLst/>
          </a:prstGeom>
          <a:solidFill>
            <a:srgbClr val="00E5A0"/>
          </a:solidFill>
          <a:ln/>
          <a:effectLst>
            <a:outerShdw sx="100000" sy="100000" kx="0" ky="0" algn="bl" rotWithShape="0" blurRad="43180" dist="50800" dir="16200000">
              <a:srgbClr val="00e5a0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02766" y="2024360"/>
            <a:ext cx="2932063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Anti-manipulation AI surveillance engine mirrors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standards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610195" y="2067520"/>
            <a:ext cx="35421" cy="35421"/>
          </a:xfrm>
          <a:prstGeom prst="ellipse">
            <a:avLst/>
          </a:prstGeom>
          <a:solidFill>
            <a:srgbClr val="00E5A0"/>
          </a:solidFill>
          <a:ln/>
          <a:effectLst>
            <a:outerShdw sx="100000" sy="100000" kx="0" ky="0" algn="bl" rotWithShape="0" blurRad="43180" dist="50800" dir="16200000">
              <a:srgbClr val="00e5a0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10195" y="2254300"/>
            <a:ext cx="1646018" cy="168920"/>
          </a:xfrm>
          <a:prstGeom prst="roundRect">
            <a:avLst>
              <a:gd name="adj" fmla="val 84958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lIns="148848" tIns="21590" rIns="71120" bIns="21590" rtlCol="0" anchor="ctr"/>
          <a:lstStyle/>
          <a:p>
            <a:pPr algn="l" indent="0" marL="0">
              <a:buNone/>
            </a:pPr>
            <a:r>
              <a:rPr lang="en-US" sz="560" b="1" spc="67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NYDFS  ·  NEW YORK STATE DFS</a:t>
            </a:r>
            <a:endParaRPr lang="en-US" sz="56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835" y="2272391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2766" y="2458641"/>
            <a:ext cx="308480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BitLicense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blockchain tokenization of TET &amp; PEI instruments</a:t>
            </a:r>
            <a:endParaRPr lang="en-US" sz="730" dirty="0"/>
          </a:p>
        </p:txBody>
      </p:sp>
      <p:sp>
        <p:nvSpPr>
          <p:cNvPr id="31" name="Text 25"/>
          <p:cNvSpPr/>
          <p:nvPr/>
        </p:nvSpPr>
        <p:spPr>
          <a:xfrm>
            <a:off x="610195" y="2501801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02766" y="2617589"/>
            <a:ext cx="295449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auditing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 for on-chain assets</a:t>
            </a:r>
            <a:endParaRPr lang="en-US" sz="730" dirty="0"/>
          </a:p>
        </p:txBody>
      </p:sp>
      <p:sp>
        <p:nvSpPr>
          <p:cNvPr id="33" name="Text 27"/>
          <p:cNvSpPr/>
          <p:nvPr/>
        </p:nvSpPr>
        <p:spPr>
          <a:xfrm>
            <a:off x="610195" y="2660749"/>
            <a:ext cx="35421" cy="35421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610195" y="2847529"/>
            <a:ext cx="2144697" cy="168920"/>
          </a:xfrm>
          <a:prstGeom prst="roundRect">
            <a:avLst>
              <a:gd name="adj" fmla="val 84958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25000"/>
              </a:srgbClr>
            </a:solidFill>
          </a:ln>
        </p:spPr>
        <p:txBody>
          <a:bodyPr wrap="none" lIns="148848" tIns="21590" rIns="71120" bIns="21590" rtlCol="0" anchor="ctr"/>
          <a:lstStyle/>
          <a:p>
            <a:pPr algn="l" indent="0" marL="0">
              <a:buNone/>
            </a:pPr>
            <a:r>
              <a:rPr lang="en-US" sz="560" b="1" spc="67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 · GDPR · CPRA  ·  BIOMETRIC PRIVACY</a:t>
            </a:r>
            <a:endParaRPr lang="en-US" sz="56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835" y="2865620"/>
            <a:ext cx="132588" cy="132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2766" y="3051870"/>
            <a:ext cx="345823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revocable biometric consent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executed via smart contracts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610195" y="3095030"/>
            <a:ext cx="35421" cy="35421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43180" dist="50800" dir="16200000">
              <a:srgbClr val="a78bfa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702766" y="3210818"/>
            <a:ext cx="349752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</a:t>
            </a:r>
            <a:pPr algn="l" indent="0" marL="0">
              <a:lnSpc>
                <a:spcPts val="1022"/>
              </a:lnSpc>
              <a:spcAft>
                <a:spcPts val="230"/>
              </a:spcAft>
              <a:buNone/>
            </a:pPr>
            <a:r>
              <a:rPr lang="en-US" sz="73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institutional quant access to biometric data feeds</a:t>
            </a:r>
            <a:endParaRPr lang="en-US" sz="730" dirty="0"/>
          </a:p>
        </p:txBody>
      </p:sp>
      <p:sp>
        <p:nvSpPr>
          <p:cNvPr id="39" name="Text 32"/>
          <p:cNvSpPr/>
          <p:nvPr/>
        </p:nvSpPr>
        <p:spPr>
          <a:xfrm>
            <a:off x="610195" y="3253978"/>
            <a:ext cx="35421" cy="35421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43180" dist="50800" dir="16200000">
              <a:srgbClr val="a78bfa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10195" y="4206925"/>
            <a:ext cx="1047006" cy="202109"/>
          </a:xfrm>
          <a:prstGeom prst="roundRect">
            <a:avLst>
              <a:gd name="adj" fmla="val 28277"/>
            </a:avLst>
          </a:prstGeom>
          <a:solidFill>
            <a:srgbClr val="00E5A0">
              <a:alpha val="8000"/>
            </a:srgbClr>
          </a:solidFill>
          <a:ln w="9525">
            <a:solidFill>
              <a:srgbClr val="00E5A0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058" y="4241685"/>
            <a:ext cx="132588" cy="1325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79413" y="4251871"/>
            <a:ext cx="87699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Howey Test Compliant</a:t>
            </a:r>
            <a:endParaRPr lang="en-US" sz="590" dirty="0"/>
          </a:p>
        </p:txBody>
      </p:sp>
      <p:sp>
        <p:nvSpPr>
          <p:cNvPr id="43" name="Text 35"/>
          <p:cNvSpPr/>
          <p:nvPr/>
        </p:nvSpPr>
        <p:spPr>
          <a:xfrm>
            <a:off x="1714351" y="4206925"/>
            <a:ext cx="801737" cy="202109"/>
          </a:xfrm>
          <a:prstGeom prst="roundRect">
            <a:avLst>
              <a:gd name="adj" fmla="val 28277"/>
            </a:avLst>
          </a:prstGeom>
          <a:solidFill>
            <a:srgbClr val="00D4FF">
              <a:alpha val="8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5213" y="4241685"/>
            <a:ext cx="132588" cy="1325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883569" y="4251871"/>
            <a:ext cx="60720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Registered</a:t>
            </a:r>
            <a:endParaRPr lang="en-US" sz="590" dirty="0"/>
          </a:p>
        </p:txBody>
      </p:sp>
      <p:sp>
        <p:nvSpPr>
          <p:cNvPr id="46" name="Text 37"/>
          <p:cNvSpPr/>
          <p:nvPr/>
        </p:nvSpPr>
        <p:spPr>
          <a:xfrm>
            <a:off x="2573238" y="4206925"/>
            <a:ext cx="857101" cy="202109"/>
          </a:xfrm>
          <a:prstGeom prst="roundRect">
            <a:avLst>
              <a:gd name="adj" fmla="val 28277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14101" y="4241685"/>
            <a:ext cx="132588" cy="132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2742456" y="4251871"/>
            <a:ext cx="66810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ZK-Proof Privacy</a:t>
            </a:r>
            <a:endParaRPr lang="en-US" sz="590" dirty="0"/>
          </a:p>
        </p:txBody>
      </p:sp>
      <p:sp>
        <p:nvSpPr>
          <p:cNvPr id="49" name="Text 39"/>
          <p:cNvSpPr/>
          <p:nvPr/>
        </p:nvSpPr>
        <p:spPr>
          <a:xfrm>
            <a:off x="610195" y="4466183"/>
            <a:ext cx="823913" cy="202109"/>
          </a:xfrm>
          <a:prstGeom prst="roundRect">
            <a:avLst>
              <a:gd name="adj" fmla="val 28277"/>
            </a:avLst>
          </a:prstGeom>
          <a:solidFill>
            <a:srgbClr val="00E5A0">
              <a:alpha val="8000"/>
            </a:srgbClr>
          </a:solidFill>
          <a:ln w="9525">
            <a:solidFill>
              <a:srgbClr val="00E5A0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1058" y="4500944"/>
            <a:ext cx="132588" cy="13258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79413" y="4511129"/>
            <a:ext cx="63159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BitLicense Filed</a:t>
            </a:r>
            <a:endParaRPr lang="en-US" sz="590" dirty="0"/>
          </a:p>
        </p:txBody>
      </p:sp>
      <p:sp>
        <p:nvSpPr>
          <p:cNvPr id="52" name="Text 41"/>
          <p:cNvSpPr/>
          <p:nvPr/>
        </p:nvSpPr>
        <p:spPr>
          <a:xfrm>
            <a:off x="4672310" y="834926"/>
            <a:ext cx="4042470" cy="3957191"/>
          </a:xfrm>
          <a:prstGeom prst="roundRect">
            <a:avLst>
              <a:gd name="adj" fmla="val 2888"/>
            </a:avLst>
          </a:prstGeom>
          <a:gradFill rotWithShape="1">
            <a:gsLst>
              <a:gs pos="0">
                <a:srgbClr val="4F8EF7">
                  <a:alpha val="6000"/>
                </a:srgbClr>
              </a:gs>
              <a:gs pos="60000">
                <a:srgbClr val="111827">
                  <a:alpha val="95000"/>
                </a:srgbClr>
              </a:gs>
            </a:gsLst>
            <a:lin ang="3300000" scaled="1"/>
          </a:gradFill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2"/>
          <p:cNvSpPr/>
          <p:nvPr/>
        </p:nvSpPr>
        <p:spPr>
          <a:xfrm>
            <a:off x="8053095" y="834926"/>
            <a:ext cx="661685" cy="642620"/>
          </a:xfrm>
          <a:custGeom>
            <a:avLst/>
            <a:gdLst/>
            <a:ahLst/>
            <a:cxnLst/>
            <a:rect l="l" t="t" r="r" b="b"/>
            <a:pathLst>
              <a:path w="661685" h="642620">
                <a:moveTo>
                  <a:pt x="661685" y="570601"/>
                </a:moveTo>
                <a:lnTo>
                  <a:pt x="630677" y="592009"/>
                </a:lnTo>
                <a:lnTo>
                  <a:pt x="592653" y="609993"/>
                </a:lnTo>
                <a:lnTo>
                  <a:pt x="553048" y="624164"/>
                </a:lnTo>
                <a:lnTo>
                  <a:pt x="512246" y="634384"/>
                </a:lnTo>
                <a:lnTo>
                  <a:pt x="470638" y="640556"/>
                </a:lnTo>
                <a:lnTo>
                  <a:pt x="428625" y="642620"/>
                </a:lnTo>
                <a:lnTo>
                  <a:pt x="386612" y="640556"/>
                </a:lnTo>
                <a:lnTo>
                  <a:pt x="345004" y="634384"/>
                </a:lnTo>
                <a:lnTo>
                  <a:pt x="304202" y="624164"/>
                </a:lnTo>
                <a:lnTo>
                  <a:pt x="264597" y="609993"/>
                </a:lnTo>
                <a:lnTo>
                  <a:pt x="226573" y="592009"/>
                </a:lnTo>
                <a:lnTo>
                  <a:pt x="190494" y="570384"/>
                </a:lnTo>
                <a:lnTo>
                  <a:pt x="156708" y="545327"/>
                </a:lnTo>
                <a:lnTo>
                  <a:pt x="125541" y="517079"/>
                </a:lnTo>
                <a:lnTo>
                  <a:pt x="97293" y="485912"/>
                </a:lnTo>
                <a:lnTo>
                  <a:pt x="72236" y="452127"/>
                </a:lnTo>
                <a:lnTo>
                  <a:pt x="50611" y="416048"/>
                </a:lnTo>
                <a:lnTo>
                  <a:pt x="32627" y="378023"/>
                </a:lnTo>
                <a:lnTo>
                  <a:pt x="18456" y="338419"/>
                </a:lnTo>
                <a:lnTo>
                  <a:pt x="8236" y="297616"/>
                </a:lnTo>
                <a:lnTo>
                  <a:pt x="2064" y="256008"/>
                </a:lnTo>
                <a:lnTo>
                  <a:pt x="0" y="213995"/>
                </a:lnTo>
                <a:lnTo>
                  <a:pt x="2064" y="171983"/>
                </a:lnTo>
                <a:lnTo>
                  <a:pt x="8236" y="130375"/>
                </a:lnTo>
                <a:lnTo>
                  <a:pt x="18456" y="89572"/>
                </a:lnTo>
                <a:lnTo>
                  <a:pt x="32627" y="49968"/>
                </a:lnTo>
                <a:lnTo>
                  <a:pt x="50611" y="11943"/>
                </a:lnTo>
                <a:lnTo>
                  <a:pt x="60023" y="0"/>
                </a:lnTo>
                <a:lnTo>
                  <a:pt x="547385" y="0"/>
                </a:lnTo>
                <a:lnTo>
                  <a:pt x="569684" y="2196"/>
                </a:lnTo>
                <a:lnTo>
                  <a:pt x="591126" y="8701"/>
                </a:lnTo>
                <a:lnTo>
                  <a:pt x="610887" y="19263"/>
                </a:lnTo>
                <a:lnTo>
                  <a:pt x="628207" y="33478"/>
                </a:lnTo>
                <a:lnTo>
                  <a:pt x="642422" y="50798"/>
                </a:lnTo>
                <a:lnTo>
                  <a:pt x="652985" y="70559"/>
                </a:lnTo>
                <a:lnTo>
                  <a:pt x="659489" y="92001"/>
                </a:lnTo>
                <a:lnTo>
                  <a:pt x="661685" y="114300"/>
                </a:lnTo>
                <a:close/>
              </a:path>
            </a:pathLst>
          </a:custGeom>
          <a:gradFill rotWithShape="1">
            <a:gsLst>
              <a:gs pos="0">
                <a:srgbClr val="4F8E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4853285" y="1392287"/>
            <a:ext cx="3680520" cy="9525"/>
          </a:xfrm>
          <a:prstGeom prst="rect">
            <a:avLst/>
          </a:prstGeom>
          <a:solidFill>
            <a:srgbClr val="4F8EF7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4853285" y="997148"/>
            <a:ext cx="299591" cy="299591"/>
          </a:xfrm>
          <a:prstGeom prst="roundRect">
            <a:avLst>
              <a:gd name="adj" fmla="val 28826"/>
            </a:avLst>
          </a:prstGeom>
          <a:solidFill>
            <a:srgbClr val="4F8EF7">
              <a:alpha val="15000"/>
            </a:srgbClr>
          </a:solidFill>
          <a:ln/>
          <a:effectLst>
            <a:outerShdw sx="100000" sy="100000" kx="0" ky="0" algn="bl" rotWithShape="0" blurRad="114300" dist="50800" dir="16200000">
              <a:srgbClr val="4f8ef7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36787" y="1080650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239196" y="987921"/>
            <a:ext cx="2267724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010" b="1" spc="40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ARCHITECTURE</a:t>
            </a:r>
            <a:endParaRPr lang="en-US" sz="1010" dirty="0"/>
          </a:p>
        </p:txBody>
      </p:sp>
      <p:sp>
        <p:nvSpPr>
          <p:cNvPr id="58" name="Text 46"/>
          <p:cNvSpPr/>
          <p:nvPr/>
        </p:nvSpPr>
        <p:spPr>
          <a:xfrm>
            <a:off x="5239196" y="1187946"/>
            <a:ext cx="226772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37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BLOCKCHAIN · EDGE COMPUTING</a:t>
            </a:r>
            <a:endParaRPr lang="en-US" sz="620" dirty="0"/>
          </a:p>
        </p:txBody>
      </p:sp>
      <p:sp>
        <p:nvSpPr>
          <p:cNvPr id="59" name="Text 47"/>
          <p:cNvSpPr/>
          <p:nvPr/>
        </p:nvSpPr>
        <p:spPr>
          <a:xfrm>
            <a:off x="4853285" y="1502122"/>
            <a:ext cx="3680520" cy="490240"/>
          </a:xfrm>
          <a:prstGeom prst="roundRect">
            <a:avLst>
              <a:gd name="adj" fmla="val 14507"/>
            </a:avLst>
          </a:prstGeom>
          <a:solidFill>
            <a:srgbClr val="4F8EF7">
              <a:alpha val="5000"/>
            </a:srgbClr>
          </a:solidFill>
          <a:ln w="9525">
            <a:solidFill>
              <a:srgbClr val="4F8EF7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8"/>
          <p:cNvSpPr/>
          <p:nvPr/>
        </p:nvSpPr>
        <p:spPr>
          <a:xfrm>
            <a:off x="4949130" y="158397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97136" y="1631984"/>
            <a:ext cx="132588" cy="132588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5248721" y="1576388"/>
            <a:ext cx="350816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CloudHSM + Blockchain Ledger</a:t>
            </a:r>
            <a:endParaRPr lang="en-US" sz="730" dirty="0"/>
          </a:p>
        </p:txBody>
      </p:sp>
      <p:sp>
        <p:nvSpPr>
          <p:cNvPr id="63" name="Text 50"/>
          <p:cNvSpPr/>
          <p:nvPr/>
        </p:nvSpPr>
        <p:spPr>
          <a:xfrm>
            <a:off x="5248721" y="1695152"/>
            <a:ext cx="325302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processing via Lambda · Redshift analytics · EMR cluster — hardware-secured key management</a:t>
            </a:r>
            <a:endParaRPr lang="en-US" sz="650" dirty="0"/>
          </a:p>
        </p:txBody>
      </p:sp>
      <p:sp>
        <p:nvSpPr>
          <p:cNvPr id="64" name="Text 51"/>
          <p:cNvSpPr/>
          <p:nvPr/>
        </p:nvSpPr>
        <p:spPr>
          <a:xfrm>
            <a:off x="4853285" y="2041773"/>
            <a:ext cx="3680520" cy="490240"/>
          </a:xfrm>
          <a:prstGeom prst="roundRect">
            <a:avLst>
              <a:gd name="adj" fmla="val 14507"/>
            </a:avLst>
          </a:prstGeom>
          <a:solidFill>
            <a:srgbClr val="4F8EF7">
              <a:alpha val="5000"/>
            </a:srgbClr>
          </a:solidFill>
          <a:ln w="9525">
            <a:solidFill>
              <a:srgbClr val="4F8EF7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2"/>
          <p:cNvSpPr/>
          <p:nvPr/>
        </p:nvSpPr>
        <p:spPr>
          <a:xfrm>
            <a:off x="4949130" y="212362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997136" y="2171635"/>
            <a:ext cx="132588" cy="13258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5248721" y="2116038"/>
            <a:ext cx="350816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— Application Layer</a:t>
            </a:r>
            <a:endParaRPr lang="en-US" sz="730" dirty="0"/>
          </a:p>
        </p:txBody>
      </p:sp>
      <p:sp>
        <p:nvSpPr>
          <p:cNvPr id="68" name="Text 54"/>
          <p:cNvSpPr/>
          <p:nvPr/>
        </p:nvSpPr>
        <p:spPr>
          <a:xfrm>
            <a:off x="5248721" y="2234803"/>
            <a:ext cx="325302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SDK integration · Permissioned blockchain for TET / PEI / DBBI ledger settlement</a:t>
            </a:r>
            <a:endParaRPr lang="en-US" sz="650" dirty="0"/>
          </a:p>
        </p:txBody>
      </p:sp>
      <p:sp>
        <p:nvSpPr>
          <p:cNvPr id="69" name="Text 55"/>
          <p:cNvSpPr/>
          <p:nvPr/>
        </p:nvSpPr>
        <p:spPr>
          <a:xfrm>
            <a:off x="4853285" y="2581424"/>
            <a:ext cx="3680520" cy="490240"/>
          </a:xfrm>
          <a:prstGeom prst="roundRect">
            <a:avLst>
              <a:gd name="adj" fmla="val 14507"/>
            </a:avLst>
          </a:prstGeom>
          <a:solidFill>
            <a:srgbClr val="4F8EF7">
              <a:alpha val="5000"/>
            </a:srgbClr>
          </a:solidFill>
          <a:ln w="9525">
            <a:solidFill>
              <a:srgbClr val="4F8EF7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56"/>
          <p:cNvSpPr/>
          <p:nvPr/>
        </p:nvSpPr>
        <p:spPr>
          <a:xfrm>
            <a:off x="4949130" y="266327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97136" y="2711285"/>
            <a:ext cx="132588" cy="132588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5248721" y="2655689"/>
            <a:ext cx="350816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6"/>
              </a:lnSpc>
              <a:buNone/>
            </a:pPr>
            <a:r>
              <a:rPr lang="en-US" sz="73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 Pipeline</a:t>
            </a:r>
            <a:endParaRPr lang="en-US" sz="730" dirty="0"/>
          </a:p>
        </p:txBody>
      </p:sp>
      <p:sp>
        <p:nvSpPr>
          <p:cNvPr id="73" name="Text 58"/>
          <p:cNvSpPr/>
          <p:nvPr/>
        </p:nvSpPr>
        <p:spPr>
          <a:xfrm>
            <a:off x="5248721" y="2774454"/>
            <a:ext cx="325302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 auto-scaling · CodePipeline CI/CD · Zero-downtime production releases</a:t>
            </a:r>
            <a:endParaRPr lang="en-US" sz="650" dirty="0"/>
          </a:p>
        </p:txBody>
      </p:sp>
      <p:sp>
        <p:nvSpPr>
          <p:cNvPr id="74" name="Text 59"/>
          <p:cNvSpPr/>
          <p:nvPr/>
        </p:nvSpPr>
        <p:spPr>
          <a:xfrm>
            <a:off x="4853285" y="3121075"/>
            <a:ext cx="3680520" cy="511076"/>
          </a:xfrm>
          <a:prstGeom prst="roundRect">
            <a:avLst>
              <a:gd name="adj" fmla="val 13916"/>
            </a:avLst>
          </a:prstGeom>
          <a:solidFill>
            <a:srgbClr val="4F8EF7">
              <a:alpha val="5000"/>
            </a:srgbClr>
          </a:solidFill>
          <a:ln w="9525">
            <a:solidFill>
              <a:srgbClr val="4F8EF7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0"/>
          <p:cNvSpPr/>
          <p:nvPr/>
        </p:nvSpPr>
        <p:spPr>
          <a:xfrm>
            <a:off x="4949130" y="320293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97136" y="3250936"/>
            <a:ext cx="132588" cy="132588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6762750" y="3195340"/>
            <a:ext cx="790426" cy="145212"/>
          </a:xfrm>
          <a:prstGeom prst="roundRect">
            <a:avLst>
              <a:gd name="adj" fmla="val 48977"/>
            </a:avLst>
          </a:prstGeom>
          <a:solidFill>
            <a:srgbClr val="00E5A0">
              <a:alpha val="12000"/>
            </a:srgbClr>
          </a:solidFill>
          <a:ln w="9525">
            <a:solidFill>
              <a:srgbClr val="00E5A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 Latency</a:t>
            </a:r>
            <a:endParaRPr lang="en-US" sz="560" dirty="0"/>
          </a:p>
        </p:txBody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84562" y="3194977"/>
            <a:ext cx="132588" cy="132588"/>
          </a:xfrm>
          <a:prstGeom prst="rect">
            <a:avLst/>
          </a:prstGeom>
        </p:spPr>
      </p:pic>
      <p:sp>
        <p:nvSpPr>
          <p:cNvPr id="79" name="Text 62"/>
          <p:cNvSpPr/>
          <p:nvPr/>
        </p:nvSpPr>
        <p:spPr>
          <a:xfrm>
            <a:off x="5248721" y="3334941"/>
            <a:ext cx="325302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biometric feed processing · On-site nodes eliminate cloud round-trip delay for live trading</a:t>
            </a:r>
            <a:endParaRPr lang="en-US" sz="650" dirty="0"/>
          </a:p>
        </p:txBody>
      </p:sp>
      <p:sp>
        <p:nvSpPr>
          <p:cNvPr id="80" name="Text 63"/>
          <p:cNvSpPr/>
          <p:nvPr/>
        </p:nvSpPr>
        <p:spPr>
          <a:xfrm>
            <a:off x="4853285" y="4220617"/>
            <a:ext cx="3680520" cy="447675"/>
          </a:xfrm>
          <a:prstGeom prst="roundRect">
            <a:avLst>
              <a:gd name="adj" fmla="val 15887"/>
            </a:avLst>
          </a:prstGeom>
          <a:gradFill rotWithShape="1">
            <a:gsLst>
              <a:gs pos="0">
                <a:srgbClr val="4F8EF7">
                  <a:alpha val="12000"/>
                </a:srgbClr>
              </a:gs>
              <a:gs pos="100000">
                <a:srgbClr val="00D4FF">
                  <a:alpha val="8000"/>
                </a:srgbClr>
              </a:gs>
            </a:gsLst>
            <a:lin ang="0" scaled="1"/>
          </a:gra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944898" y="4378011"/>
            <a:ext cx="132588" cy="132588"/>
          </a:xfrm>
          <a:prstGeom prst="rect">
            <a:avLst/>
          </a:prstGeom>
        </p:spPr>
      </p:pic>
      <p:sp>
        <p:nvSpPr>
          <p:cNvPr id="82" name="Text 64"/>
          <p:cNvSpPr/>
          <p:nvPr/>
        </p:nvSpPr>
        <p:spPr>
          <a:xfrm>
            <a:off x="5116413" y="4326285"/>
            <a:ext cx="1699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PARTNER</a:t>
            </a:r>
            <a:endParaRPr lang="en-US" sz="560" dirty="0"/>
          </a:p>
        </p:txBody>
      </p:sp>
      <p:sp>
        <p:nvSpPr>
          <p:cNvPr id="83" name="Text 65"/>
          <p:cNvSpPr/>
          <p:nvPr/>
        </p:nvSpPr>
        <p:spPr>
          <a:xfrm>
            <a:off x="5116413" y="4432995"/>
            <a:ext cx="169964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Technology &amp; Ball Assurance, Inc.</a:t>
            </a:r>
            <a:endParaRPr lang="en-US" sz="680" dirty="0"/>
          </a:p>
        </p:txBody>
      </p:sp>
      <p:sp>
        <p:nvSpPr>
          <p:cNvPr id="84" name="Text 66"/>
          <p:cNvSpPr/>
          <p:nvPr/>
        </p:nvSpPr>
        <p:spPr>
          <a:xfrm>
            <a:off x="6732538" y="4301133"/>
            <a:ext cx="901303" cy="295242"/>
          </a:xfrm>
          <a:prstGeom prst="roundRect">
            <a:avLst>
              <a:gd name="adj" fmla="val 29251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lIns="71120" tIns="21590" rIns="71120" bIns="21590" rtlCol="0" anchor="t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Blueprint · </a:t>
            </a:r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590" dirty="0"/>
          </a:p>
        </p:txBody>
      </p:sp>
      <p:sp>
        <p:nvSpPr>
          <p:cNvPr id="85" name="Text 67"/>
          <p:cNvSpPr/>
          <p:nvPr/>
        </p:nvSpPr>
        <p:spPr>
          <a:xfrm>
            <a:off x="7690991" y="4301133"/>
            <a:ext cx="732979" cy="295242"/>
          </a:xfrm>
          <a:prstGeom prst="roundRect">
            <a:avLst>
              <a:gd name="adj" fmla="val 29251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lIns="71120" tIns="21590" rIns="71120" bIns="21590" rtlCol="0" anchor="t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· </a:t>
            </a:r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$17,500</a:t>
            </a:r>
            <a:endParaRPr lang="en-US" sz="590" dirty="0"/>
          </a:p>
        </p:txBody>
      </p:sp>
      <p:sp>
        <p:nvSpPr>
          <p:cNvPr id="86" name="Text 68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69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70"/>
          <p:cNvSpPr/>
          <p:nvPr/>
        </p:nvSpPr>
        <p:spPr>
          <a:xfrm>
            <a:off x="429220" y="4960293"/>
            <a:ext cx="348720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2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 · NATIONAL INTELLIGENT BLOCKCHAIN LEAGUE SPORT</a:t>
            </a:r>
            <a:endParaRPr lang="en-US" sz="620" dirty="0"/>
          </a:p>
        </p:txBody>
      </p:sp>
      <p:sp>
        <p:nvSpPr>
          <p:cNvPr id="89" name="Text 71"/>
          <p:cNvSpPr/>
          <p:nvPr/>
        </p:nvSpPr>
        <p:spPr>
          <a:xfrm>
            <a:off x="4238625" y="4965948"/>
            <a:ext cx="257222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56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INTELLIGENCE · EQUITY · PERFORMANCE · VALUE</a:t>
            </a:r>
            <a:endParaRPr lang="en-US" sz="560" dirty="0"/>
          </a:p>
        </p:txBody>
      </p:sp>
      <p:sp>
        <p:nvSpPr>
          <p:cNvPr id="90" name="Text 72"/>
          <p:cNvSpPr/>
          <p:nvPr/>
        </p:nvSpPr>
        <p:spPr>
          <a:xfrm>
            <a:off x="7216229" y="4960293"/>
            <a:ext cx="164840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74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82-3957690  |  NYSE: NIBLS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214390" cy="2857500"/>
          </a:xfrm>
          <a:prstGeom prst="ellipse">
            <a:avLst/>
          </a:prstGeom>
          <a:gradFill rotWithShape="1">
            <a:gsLst>
              <a:gs pos="0">
                <a:srgbClr val="00D4FF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0" y="2857500"/>
            <a:ext cx="2857500" cy="2286000"/>
          </a:xfrm>
          <a:prstGeom prst="ellipse">
            <a:avLst/>
          </a:prstGeom>
          <a:gradFill rotWithShape="1">
            <a:gsLst>
              <a:gs pos="0">
                <a:srgbClr val="00D4FF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D4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310" y="100310"/>
            <a:ext cx="8943380" cy="4942880"/>
          </a:xfrm>
          <a:prstGeom prst="roundRect">
            <a:avLst>
              <a:gd name="adj" fmla="val 2595"/>
            </a:avLst>
          </a:prstGeom>
          <a:noFill/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41886" y="157460"/>
            <a:ext cx="3325282" cy="195411"/>
          </a:xfrm>
          <a:prstGeom prst="roundRect">
            <a:avLst>
              <a:gd name="adj" fmla="val 73440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8000"/>
              </a:srgbClr>
            </a:solidFill>
          </a:ln>
        </p:spPr>
        <p:txBody>
          <a:bodyPr wrap="none" lIns="217110" tIns="29210" rIns="114300" bIns="29210" rtlCol="0" anchor="ctr"/>
          <a:lstStyle/>
          <a:p>
            <a:pPr algn="l" indent="0" marL="0">
              <a:buNone/>
            </a:pPr>
            <a:r>
              <a:rPr lang="en-US" sz="620" b="1" spc="74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NIBLS, INC.  ·  TICKER: NIBLS  ·  EIN: 82-3957690  ·  EST. 2017</a:t>
            </a:r>
            <a:endParaRPr lang="en-US" sz="62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6057" y="18879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226" y="396032"/>
            <a:ext cx="886554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4"/>
              </a:lnSpc>
              <a:buNone/>
            </a:pPr>
            <a:r>
              <a:rPr lang="en-US" sz="214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 the </a:t>
            </a:r>
            <a:pPr algn="ctr" indent="0" marL="0">
              <a:lnSpc>
                <a:spcPts val="2354"/>
              </a:lnSpc>
              <a:buNone/>
            </a:pPr>
            <a:r>
              <a:rPr lang="en-US" sz="214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Biometric Equity</a:t>
            </a:r>
            <a:pPr algn="ctr" indent="0" marL="0">
              <a:lnSpc>
                <a:spcPts val="2354"/>
              </a:lnSpc>
              <a:buNone/>
            </a:pPr>
            <a:r>
              <a:rPr lang="en-US" sz="214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Revolution</a:t>
            </a:r>
            <a:endParaRPr lang="en-US" sz="2140" dirty="0"/>
          </a:p>
        </p:txBody>
      </p:sp>
      <p:sp>
        <p:nvSpPr>
          <p:cNvPr id="10" name="Text 7"/>
          <p:cNvSpPr/>
          <p:nvPr/>
        </p:nvSpPr>
        <p:spPr>
          <a:xfrm>
            <a:off x="14942" y="716459"/>
            <a:ext cx="911411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spc="32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$200M – $1B Pre-IPO  |  8 Equity Scenarios Available  |  Founder: Dashawn Ramel Bledsoe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429220" y="937915"/>
            <a:ext cx="828555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4091" y="113377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943" y="1188625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7523" y="1132136"/>
            <a:ext cx="17693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560" dirty="0"/>
          </a:p>
        </p:txBody>
      </p:sp>
      <p:sp>
        <p:nvSpPr>
          <p:cNvPr id="15" name="Text 11"/>
          <p:cNvSpPr/>
          <p:nvPr/>
        </p:nvSpPr>
        <p:spPr>
          <a:xfrm>
            <a:off x="657523" y="1238845"/>
            <a:ext cx="17693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OFFERING SCENARIOS</a:t>
            </a:r>
            <a:endParaRPr lang="en-US" sz="730" dirty="0"/>
          </a:p>
        </p:txBody>
      </p:sp>
      <p:sp>
        <p:nvSpPr>
          <p:cNvPr id="16" name="Text 12"/>
          <p:cNvSpPr/>
          <p:nvPr/>
        </p:nvSpPr>
        <p:spPr>
          <a:xfrm>
            <a:off x="344091" y="1448842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5000"/>
            </a:srgbClr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24607" y="1493788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739527" y="1498550"/>
            <a:ext cx="34264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344091" y="1706910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5000"/>
            </a:srgbClr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24607" y="1751856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739527" y="1756618"/>
            <a:ext cx="39536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$500,000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344091" y="1964978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F0B429">
              <a:alpha val="7000"/>
            </a:srgbClr>
          </a:solidFill>
          <a:ln w="9525">
            <a:solidFill>
              <a:srgbClr val="F0B429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24607" y="2009924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</a:t>
            </a:r>
            <a:endParaRPr lang="en-US" sz="730" dirty="0"/>
          </a:p>
        </p:txBody>
      </p:sp>
      <p:sp>
        <p:nvSpPr>
          <p:cNvPr id="24" name="Text 20"/>
          <p:cNvSpPr/>
          <p:nvPr/>
        </p:nvSpPr>
        <p:spPr>
          <a:xfrm>
            <a:off x="739527" y="2014686"/>
            <a:ext cx="132245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Non-Exclusive License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344091" y="2223046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5000"/>
            </a:srgbClr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24607" y="2267992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739527" y="2272754"/>
            <a:ext cx="52714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$10,000,000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344091" y="2481114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5000"/>
            </a:srgbClr>
          </a:solidFill>
          <a:ln w="9525">
            <a:solidFill>
              <a:srgbClr val="00D4FF">
                <a:alpha val="12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24607" y="2526060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30" dirty="0"/>
          </a:p>
        </p:txBody>
      </p:sp>
      <p:sp>
        <p:nvSpPr>
          <p:cNvPr id="30" name="Text 26"/>
          <p:cNvSpPr/>
          <p:nvPr/>
        </p:nvSpPr>
        <p:spPr>
          <a:xfrm>
            <a:off x="739527" y="2530822"/>
            <a:ext cx="52714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$20,000,000</a:t>
            </a: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344091" y="2739182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24607" y="2784128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30" dirty="0"/>
          </a:p>
        </p:txBody>
      </p:sp>
      <p:sp>
        <p:nvSpPr>
          <p:cNvPr id="33" name="Text 29"/>
          <p:cNvSpPr/>
          <p:nvPr/>
        </p:nvSpPr>
        <p:spPr>
          <a:xfrm>
            <a:off x="739527" y="2788890"/>
            <a:ext cx="57986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$200,000,000</a:t>
            </a:r>
            <a:endParaRPr lang="en-US" sz="680" dirty="0"/>
          </a:p>
        </p:txBody>
      </p:sp>
      <p:sp>
        <p:nvSpPr>
          <p:cNvPr id="34" name="Text 30"/>
          <p:cNvSpPr/>
          <p:nvPr/>
        </p:nvSpPr>
        <p:spPr>
          <a:xfrm>
            <a:off x="344091" y="2997250"/>
            <a:ext cx="2622203" cy="228898"/>
          </a:xfrm>
          <a:prstGeom prst="roundRect">
            <a:avLst>
              <a:gd name="adj" fmla="val 21638"/>
            </a:avLst>
          </a:prstGeom>
          <a:solidFill>
            <a:srgbClr val="00D4FF">
              <a:alpha val="13000"/>
            </a:srgbClr>
          </a:solidFill>
          <a:ln w="9525">
            <a:solidFill>
              <a:srgbClr val="00D4FF">
                <a:alpha val="3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24607" y="3042196"/>
            <a:ext cx="2835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730" dirty="0"/>
          </a:p>
        </p:txBody>
      </p:sp>
      <p:sp>
        <p:nvSpPr>
          <p:cNvPr id="36" name="Text 32"/>
          <p:cNvSpPr/>
          <p:nvPr/>
        </p:nvSpPr>
        <p:spPr>
          <a:xfrm>
            <a:off x="739527" y="3046958"/>
            <a:ext cx="57986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$200,000,000</a:t>
            </a:r>
            <a:endParaRPr lang="en-US" sz="680" dirty="0"/>
          </a:p>
        </p:txBody>
      </p:sp>
      <p:sp>
        <p:nvSpPr>
          <p:cNvPr id="37" name="Text 33"/>
          <p:cNvSpPr/>
          <p:nvPr/>
        </p:nvSpPr>
        <p:spPr>
          <a:xfrm>
            <a:off x="344091" y="3269307"/>
            <a:ext cx="492303" cy="168920"/>
          </a:xfrm>
          <a:prstGeom prst="roundRect">
            <a:avLst>
              <a:gd name="adj" fmla="val 21051"/>
            </a:avLst>
          </a:prstGeom>
          <a:solidFill>
            <a:srgbClr val="F0B429">
              <a:alpha val="12000"/>
            </a:srgbClr>
          </a:solidFill>
          <a:ln w="9525">
            <a:solidFill>
              <a:srgbClr val="F0B429">
                <a:alpha val="25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60" b="1" spc="22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p.a.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883890" y="3269307"/>
            <a:ext cx="577161" cy="168920"/>
          </a:xfrm>
          <a:prstGeom prst="roundRect">
            <a:avLst>
              <a:gd name="adj" fmla="val 21051"/>
            </a:avLst>
          </a:prstGeom>
          <a:solidFill>
            <a:srgbClr val="F0B429">
              <a:alpha val="12000"/>
            </a:srgbClr>
          </a:solidFill>
          <a:ln w="9525">
            <a:solidFill>
              <a:srgbClr val="F0B429">
                <a:alpha val="25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60" b="1" spc="22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Term</a:t>
            </a:r>
            <a:endParaRPr lang="en-US" sz="560" dirty="0"/>
          </a:p>
        </p:txBody>
      </p:sp>
      <p:sp>
        <p:nvSpPr>
          <p:cNvPr id="39" name="Text 35"/>
          <p:cNvSpPr/>
          <p:nvPr/>
        </p:nvSpPr>
        <p:spPr>
          <a:xfrm>
            <a:off x="1506885" y="3269307"/>
            <a:ext cx="535263" cy="168920"/>
          </a:xfrm>
          <a:prstGeom prst="roundRect">
            <a:avLst>
              <a:gd name="adj" fmla="val 21051"/>
            </a:avLst>
          </a:prstGeom>
          <a:solidFill>
            <a:srgbClr val="F0B429">
              <a:alpha val="12000"/>
            </a:srgbClr>
          </a:solidFill>
          <a:ln w="9525">
            <a:solidFill>
              <a:srgbClr val="F0B429">
                <a:alpha val="25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60" b="1" spc="22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560" dirty="0"/>
          </a:p>
        </p:txBody>
      </p:sp>
      <p:sp>
        <p:nvSpPr>
          <p:cNvPr id="40" name="Text 36"/>
          <p:cNvSpPr/>
          <p:nvPr/>
        </p:nvSpPr>
        <p:spPr>
          <a:xfrm>
            <a:off x="344091" y="3495377"/>
            <a:ext cx="835968" cy="453441"/>
          </a:xfrm>
          <a:prstGeom prst="roundRect">
            <a:avLst>
              <a:gd name="adj" fmla="val 1260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lIns="71120" tIns="49530" rIns="71120" bIns="4953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$999,999,999</a:t>
            </a:r>
            <a:pPr algn="ctr" indent="0" marL="0">
              <a:buNone/>
            </a:pPr>
            <a:endParaRPr lang="en-US" sz="840" dirty="0"/>
          </a:p>
          <a:p>
            <a:pPr algn="ctr" indent="0" marL="0">
              <a:buNone/>
            </a:pPr>
            <a:r>
              <a:rPr lang="en-US" sz="510" b="1" spc="4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OWNERSHIP</a:t>
            </a:r>
            <a:endParaRPr lang="en-US" sz="840" dirty="0"/>
          </a:p>
        </p:txBody>
      </p:sp>
      <p:sp>
        <p:nvSpPr>
          <p:cNvPr id="41" name="Text 37"/>
          <p:cNvSpPr/>
          <p:nvPr/>
        </p:nvSpPr>
        <p:spPr>
          <a:xfrm>
            <a:off x="1237208" y="3495377"/>
            <a:ext cx="835968" cy="453441"/>
          </a:xfrm>
          <a:prstGeom prst="roundRect">
            <a:avLst>
              <a:gd name="adj" fmla="val 1260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lIns="71120" tIns="49530" rIns="71120" bIns="4953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40,060</a:t>
            </a:r>
            <a:pPr algn="ctr" indent="0" marL="0">
              <a:buNone/>
            </a:pPr>
            <a:endParaRPr lang="en-US" sz="840" dirty="0"/>
          </a:p>
          <a:p>
            <a:pPr algn="ctr" indent="0" marL="0">
              <a:buNone/>
            </a:pPr>
            <a:r>
              <a:rPr lang="en-US" sz="510" b="1" spc="4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SHARES</a:t>
            </a:r>
            <a:endParaRPr lang="en-US" sz="840" dirty="0"/>
          </a:p>
        </p:txBody>
      </p:sp>
      <p:sp>
        <p:nvSpPr>
          <p:cNvPr id="42" name="Text 38"/>
          <p:cNvSpPr/>
          <p:nvPr/>
        </p:nvSpPr>
        <p:spPr>
          <a:xfrm>
            <a:off x="2130326" y="3495377"/>
            <a:ext cx="835968" cy="453441"/>
          </a:xfrm>
          <a:prstGeom prst="roundRect">
            <a:avLst>
              <a:gd name="adj" fmla="val 12604"/>
            </a:avLst>
          </a:prstGeom>
          <a:solidFill>
            <a:srgbClr val="00D4FF">
              <a:alpha val="6000"/>
            </a:srgbClr>
          </a:solidFill>
          <a:ln w="9525">
            <a:solidFill>
              <a:srgbClr val="00D4FF">
                <a:alpha val="18000"/>
              </a:srgbClr>
            </a:solidFill>
          </a:ln>
        </p:spPr>
        <p:txBody>
          <a:bodyPr wrap="square" lIns="71120" tIns="49530" rIns="71120" bIns="4953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</a:t>
            </a:r>
            <a:pPr algn="ctr" indent="0" marL="0">
              <a:buNone/>
            </a:pPr>
            <a:endParaRPr lang="en-US" sz="840" dirty="0"/>
          </a:p>
          <a:p>
            <a:pPr algn="ctr" indent="0" marL="0">
              <a:buNone/>
            </a:pPr>
            <a:r>
              <a:rPr lang="en-US" sz="510" b="1" spc="4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</a:t>
            </a:r>
            <a:endParaRPr lang="en-US" sz="840" dirty="0"/>
          </a:p>
        </p:txBody>
      </p:sp>
      <p:sp>
        <p:nvSpPr>
          <p:cNvPr id="43" name="Text 39"/>
          <p:cNvSpPr/>
          <p:nvPr/>
        </p:nvSpPr>
        <p:spPr>
          <a:xfrm>
            <a:off x="3109764" y="1031825"/>
            <a:ext cx="7590" cy="300409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260824" y="113377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5676" y="1188625"/>
            <a:ext cx="132588" cy="13258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574256" y="1132136"/>
            <a:ext cx="13576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560" dirty="0"/>
          </a:p>
        </p:txBody>
      </p:sp>
      <p:sp>
        <p:nvSpPr>
          <p:cNvPr id="47" name="Text 42"/>
          <p:cNvSpPr/>
          <p:nvPr/>
        </p:nvSpPr>
        <p:spPr>
          <a:xfrm>
            <a:off x="3574256" y="1238845"/>
            <a:ext cx="13576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ROADMAP</a:t>
            </a:r>
            <a:endParaRPr lang="en-US" sz="730" dirty="0"/>
          </a:p>
        </p:txBody>
      </p:sp>
      <p:sp>
        <p:nvSpPr>
          <p:cNvPr id="48" name="Text 43"/>
          <p:cNvSpPr/>
          <p:nvPr/>
        </p:nvSpPr>
        <p:spPr>
          <a:xfrm>
            <a:off x="3260824" y="1462683"/>
            <a:ext cx="86320" cy="86320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296989" y="1549003"/>
            <a:ext cx="13841" cy="157460"/>
          </a:xfrm>
          <a:prstGeom prst="rect">
            <a:avLst/>
          </a:prstGeom>
          <a:gradFill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3418136" y="1448842"/>
            <a:ext cx="27113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43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LICENSE</a:t>
            </a:r>
            <a:endParaRPr lang="en-US" sz="620" dirty="0"/>
          </a:p>
        </p:txBody>
      </p:sp>
      <p:sp>
        <p:nvSpPr>
          <p:cNvPr id="51" name="Text 46"/>
          <p:cNvSpPr/>
          <p:nvPr/>
        </p:nvSpPr>
        <p:spPr>
          <a:xfrm>
            <a:off x="3418136" y="1574453"/>
            <a:ext cx="2514189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Non-exclusive hardware manufacturing license · Tech+Ball units to market</a:t>
            </a:r>
            <a:endParaRPr lang="en-US" sz="650" dirty="0"/>
          </a:p>
        </p:txBody>
      </p:sp>
      <p:sp>
        <p:nvSpPr>
          <p:cNvPr id="52" name="Text 47"/>
          <p:cNvSpPr/>
          <p:nvPr/>
        </p:nvSpPr>
        <p:spPr>
          <a:xfrm>
            <a:off x="3260824" y="1860649"/>
            <a:ext cx="86320" cy="86320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3296989" y="1946970"/>
            <a:ext cx="13841" cy="157460"/>
          </a:xfrm>
          <a:prstGeom prst="rect">
            <a:avLst/>
          </a:prstGeom>
          <a:gradFill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9"/>
          <p:cNvSpPr/>
          <p:nvPr/>
        </p:nvSpPr>
        <p:spPr>
          <a:xfrm>
            <a:off x="3418136" y="1846808"/>
            <a:ext cx="24653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43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ADVERTISING</a:t>
            </a:r>
            <a:endParaRPr lang="en-US" sz="620" dirty="0"/>
          </a:p>
        </p:txBody>
      </p:sp>
      <p:sp>
        <p:nvSpPr>
          <p:cNvPr id="55" name="Text 50"/>
          <p:cNvSpPr/>
          <p:nvPr/>
        </p:nvSpPr>
        <p:spPr>
          <a:xfrm>
            <a:off x="3418136" y="1972419"/>
            <a:ext cx="246532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AD space campaigns · Brand partnership integration</a:t>
            </a:r>
            <a:endParaRPr lang="en-US" sz="650" dirty="0"/>
          </a:p>
        </p:txBody>
      </p:sp>
      <p:sp>
        <p:nvSpPr>
          <p:cNvPr id="56" name="Text 51"/>
          <p:cNvSpPr/>
          <p:nvPr/>
        </p:nvSpPr>
        <p:spPr>
          <a:xfrm>
            <a:off x="3260824" y="2167682"/>
            <a:ext cx="86320" cy="86320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3296989" y="2254002"/>
            <a:ext cx="13841" cy="157460"/>
          </a:xfrm>
          <a:prstGeom prst="rect">
            <a:avLst/>
          </a:prstGeom>
          <a:gradFill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3418136" y="2153841"/>
            <a:ext cx="25913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43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GROWTH</a:t>
            </a:r>
            <a:endParaRPr lang="en-US" sz="620" dirty="0"/>
          </a:p>
        </p:txBody>
      </p:sp>
      <p:sp>
        <p:nvSpPr>
          <p:cNvPr id="59" name="Text 54"/>
          <p:cNvSpPr/>
          <p:nvPr/>
        </p:nvSpPr>
        <p:spPr>
          <a:xfrm>
            <a:off x="3418136" y="2279452"/>
            <a:ext cx="259138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equipment + jerseys · Stadium &amp; private equity real estate</a:t>
            </a:r>
            <a:endParaRPr lang="en-US" sz="650" dirty="0"/>
          </a:p>
        </p:txBody>
      </p:sp>
      <p:sp>
        <p:nvSpPr>
          <p:cNvPr id="60" name="Text 55"/>
          <p:cNvSpPr/>
          <p:nvPr/>
        </p:nvSpPr>
        <p:spPr>
          <a:xfrm>
            <a:off x="3260824" y="2474714"/>
            <a:ext cx="86320" cy="86320"/>
          </a:xfrm>
          <a:prstGeom prst="ellipse">
            <a:avLst/>
          </a:prstGeom>
          <a:solidFill>
            <a:srgbClr val="0A0F1E"/>
          </a:solidFill>
          <a:ln w="9525">
            <a:solidFill>
              <a:srgbClr val="00D4FF"/>
            </a:solidFill>
          </a:ln>
          <a:effectLst>
            <a:outerShdw sx="100000" sy="100000" kx="0" ky="0" algn="bl" rotWithShape="0" blurRad="43180" dist="50800" dir="16200000">
              <a:srgbClr val="00d4ff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3296989" y="2561034"/>
            <a:ext cx="13841" cy="157460"/>
          </a:xfrm>
          <a:prstGeom prst="rect">
            <a:avLst/>
          </a:prstGeom>
          <a:gradFill rotWithShape="1">
            <a:gsLst>
              <a:gs pos="0">
                <a:srgbClr val="00D4FF">
                  <a:alpha val="35000"/>
                </a:srgbClr>
              </a:gs>
              <a:gs pos="100000">
                <a:srgbClr val="00D4FF">
                  <a:alpha val="8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3418136" y="2460873"/>
            <a:ext cx="231929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43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PRO LAUNCH</a:t>
            </a:r>
            <a:endParaRPr lang="en-US" sz="620" dirty="0"/>
          </a:p>
        </p:txBody>
      </p:sp>
      <p:sp>
        <p:nvSpPr>
          <p:cNvPr id="63" name="Text 58"/>
          <p:cNvSpPr/>
          <p:nvPr/>
        </p:nvSpPr>
        <p:spPr>
          <a:xfrm>
            <a:off x="3418136" y="2586484"/>
            <a:ext cx="23192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global pro clubs activated · BLEI-E exchange goes live</a:t>
            </a:r>
            <a:endParaRPr lang="en-US" sz="650" dirty="0"/>
          </a:p>
        </p:txBody>
      </p:sp>
      <p:sp>
        <p:nvSpPr>
          <p:cNvPr id="64" name="Text 59"/>
          <p:cNvSpPr/>
          <p:nvPr/>
        </p:nvSpPr>
        <p:spPr>
          <a:xfrm>
            <a:off x="3260824" y="2781746"/>
            <a:ext cx="86320" cy="86320"/>
          </a:xfrm>
          <a:prstGeom prst="ellipse">
            <a:avLst/>
          </a:prstGeom>
          <a:solidFill>
            <a:srgbClr val="0A0F1E"/>
          </a:solidFill>
          <a:ln w="9525">
            <a:solidFill>
              <a:srgbClr val="F0B429"/>
            </a:solidFill>
          </a:ln>
          <a:effectLst>
            <a:outerShdw sx="100000" sy="100000" kx="0" ky="0" algn="bl" rotWithShape="0" blurRad="57150" dist="50800" dir="16200000">
              <a:srgbClr val="f0b429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3418136" y="2767905"/>
            <a:ext cx="251574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43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SPAC / IPO EXIT</a:t>
            </a:r>
            <a:endParaRPr lang="en-US" sz="620" dirty="0"/>
          </a:p>
        </p:txBody>
      </p:sp>
      <p:sp>
        <p:nvSpPr>
          <p:cNvPr id="66" name="Text 61"/>
          <p:cNvSpPr/>
          <p:nvPr/>
        </p:nvSpPr>
        <p:spPr>
          <a:xfrm>
            <a:off x="3418136" y="2893516"/>
            <a:ext cx="251574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listing · Institutional liquidity event · Full exchange debut</a:t>
            </a:r>
            <a:endParaRPr lang="en-US" sz="650" dirty="0"/>
          </a:p>
        </p:txBody>
      </p:sp>
      <p:sp>
        <p:nvSpPr>
          <p:cNvPr id="67" name="Text 62"/>
          <p:cNvSpPr/>
          <p:nvPr/>
        </p:nvSpPr>
        <p:spPr>
          <a:xfrm>
            <a:off x="3260824" y="3054400"/>
            <a:ext cx="486221" cy="185812"/>
          </a:xfrm>
          <a:prstGeom prst="roundRect">
            <a:avLst>
              <a:gd name="adj" fmla="val 19138"/>
            </a:avLst>
          </a:prstGeom>
          <a:solidFill>
            <a:srgbClr val="F0B429">
              <a:alpha val="10000"/>
            </a:srgbClr>
          </a:solidFill>
          <a:ln w="9525">
            <a:solidFill>
              <a:srgbClr val="F0B429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560" dirty="0"/>
          </a:p>
        </p:txBody>
      </p:sp>
      <p:sp>
        <p:nvSpPr>
          <p:cNvPr id="68" name="Text 63"/>
          <p:cNvSpPr/>
          <p:nvPr/>
        </p:nvSpPr>
        <p:spPr>
          <a:xfrm>
            <a:off x="3790206" y="3079849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F0B429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20" dirty="0"/>
          </a:p>
        </p:txBody>
      </p:sp>
      <p:sp>
        <p:nvSpPr>
          <p:cNvPr id="69" name="Text 64"/>
          <p:cNvSpPr/>
          <p:nvPr/>
        </p:nvSpPr>
        <p:spPr>
          <a:xfrm>
            <a:off x="3911947" y="3054400"/>
            <a:ext cx="311348" cy="185812"/>
          </a:xfrm>
          <a:prstGeom prst="roundRect">
            <a:avLst>
              <a:gd name="adj" fmla="val 19138"/>
            </a:avLst>
          </a:prstGeom>
          <a:solidFill>
            <a:srgbClr val="F0B429">
              <a:alpha val="10000"/>
            </a:srgbClr>
          </a:solidFill>
          <a:ln w="9525">
            <a:solidFill>
              <a:srgbClr val="F0B429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560" dirty="0"/>
          </a:p>
        </p:txBody>
      </p:sp>
      <p:sp>
        <p:nvSpPr>
          <p:cNvPr id="70" name="Text 65"/>
          <p:cNvSpPr/>
          <p:nvPr/>
        </p:nvSpPr>
        <p:spPr>
          <a:xfrm>
            <a:off x="4266456" y="3079849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F0B429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20" dirty="0"/>
          </a:p>
        </p:txBody>
      </p:sp>
      <p:sp>
        <p:nvSpPr>
          <p:cNvPr id="71" name="Text 66"/>
          <p:cNvSpPr/>
          <p:nvPr/>
        </p:nvSpPr>
        <p:spPr>
          <a:xfrm>
            <a:off x="4388197" y="3054400"/>
            <a:ext cx="358973" cy="185812"/>
          </a:xfrm>
          <a:prstGeom prst="roundRect">
            <a:avLst>
              <a:gd name="adj" fmla="val 19138"/>
            </a:avLst>
          </a:prstGeom>
          <a:solidFill>
            <a:srgbClr val="F0B429">
              <a:alpha val="10000"/>
            </a:srgbClr>
          </a:solidFill>
          <a:ln w="9525">
            <a:solidFill>
              <a:srgbClr val="F0B429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560" dirty="0"/>
          </a:p>
        </p:txBody>
      </p:sp>
      <p:sp>
        <p:nvSpPr>
          <p:cNvPr id="72" name="Text 67"/>
          <p:cNvSpPr/>
          <p:nvPr/>
        </p:nvSpPr>
        <p:spPr>
          <a:xfrm>
            <a:off x="4790331" y="3079849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F0B429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20" dirty="0"/>
          </a:p>
        </p:txBody>
      </p:sp>
      <p:sp>
        <p:nvSpPr>
          <p:cNvPr id="73" name="Text 68"/>
          <p:cNvSpPr/>
          <p:nvPr/>
        </p:nvSpPr>
        <p:spPr>
          <a:xfrm>
            <a:off x="4912072" y="3054400"/>
            <a:ext cx="605135" cy="185812"/>
          </a:xfrm>
          <a:prstGeom prst="roundRect">
            <a:avLst>
              <a:gd name="adj" fmla="val 19138"/>
            </a:avLst>
          </a:prstGeom>
          <a:solidFill>
            <a:srgbClr val="F0B429">
              <a:alpha val="10000"/>
            </a:srgbClr>
          </a:solidFill>
          <a:ln w="9525">
            <a:solidFill>
              <a:srgbClr val="F0B429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CLUBS</a:t>
            </a:r>
            <a:endParaRPr lang="en-US" sz="560" dirty="0"/>
          </a:p>
        </p:txBody>
      </p:sp>
      <p:sp>
        <p:nvSpPr>
          <p:cNvPr id="74" name="Text 69"/>
          <p:cNvSpPr/>
          <p:nvPr/>
        </p:nvSpPr>
        <p:spPr>
          <a:xfrm>
            <a:off x="5560368" y="3079849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F0B429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20" dirty="0"/>
          </a:p>
        </p:txBody>
      </p:sp>
      <p:sp>
        <p:nvSpPr>
          <p:cNvPr id="75" name="Text 70"/>
          <p:cNvSpPr/>
          <p:nvPr/>
        </p:nvSpPr>
        <p:spPr>
          <a:xfrm>
            <a:off x="3260824" y="3266480"/>
            <a:ext cx="283666" cy="185812"/>
          </a:xfrm>
          <a:prstGeom prst="roundRect">
            <a:avLst>
              <a:gd name="adj" fmla="val 19138"/>
            </a:avLst>
          </a:prstGeom>
          <a:solidFill>
            <a:srgbClr val="F0B429">
              <a:alpha val="10000"/>
            </a:srgbClr>
          </a:solidFill>
          <a:ln w="9525">
            <a:solidFill>
              <a:srgbClr val="F0B429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560" dirty="0"/>
          </a:p>
        </p:txBody>
      </p:sp>
      <p:sp>
        <p:nvSpPr>
          <p:cNvPr id="76" name="Text 71"/>
          <p:cNvSpPr/>
          <p:nvPr/>
        </p:nvSpPr>
        <p:spPr>
          <a:xfrm>
            <a:off x="6026497" y="1031825"/>
            <a:ext cx="7590" cy="300409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2"/>
          <p:cNvSpPr/>
          <p:nvPr/>
        </p:nvSpPr>
        <p:spPr>
          <a:xfrm>
            <a:off x="6177558" y="1133773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0D4FF">
              <a:alpha val="12000"/>
            </a:srgbClr>
          </a:solidFill>
          <a:ln w="9525">
            <a:solidFill>
              <a:srgbClr val="00D4FF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2410" y="1188625"/>
            <a:ext cx="132588" cy="132588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6490990" y="1132136"/>
            <a:ext cx="126253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560" dirty="0"/>
          </a:p>
        </p:txBody>
      </p:sp>
      <p:sp>
        <p:nvSpPr>
          <p:cNvPr id="80" name="Text 74"/>
          <p:cNvSpPr/>
          <p:nvPr/>
        </p:nvSpPr>
        <p:spPr>
          <a:xfrm>
            <a:off x="6490990" y="1238845"/>
            <a:ext cx="12625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CONNECT</a:t>
            </a:r>
            <a:endParaRPr lang="en-US" sz="730" dirty="0"/>
          </a:p>
        </p:txBody>
      </p:sp>
      <p:sp>
        <p:nvSpPr>
          <p:cNvPr id="81" name="Text 75"/>
          <p:cNvSpPr/>
          <p:nvPr/>
        </p:nvSpPr>
        <p:spPr>
          <a:xfrm>
            <a:off x="6177558" y="1448842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6"/>
          <p:cNvSpPr/>
          <p:nvPr/>
        </p:nvSpPr>
        <p:spPr>
          <a:xfrm>
            <a:off x="6258074" y="1493788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4425" y="1520139"/>
            <a:ext cx="132588" cy="132588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6508105" y="1533079"/>
            <a:ext cx="4245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560" dirty="0"/>
          </a:p>
        </p:txBody>
      </p:sp>
      <p:sp>
        <p:nvSpPr>
          <p:cNvPr id="85" name="Text 78"/>
          <p:cNvSpPr/>
          <p:nvPr/>
        </p:nvSpPr>
        <p:spPr>
          <a:xfrm>
            <a:off x="6958757" y="1524446"/>
            <a:ext cx="107361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Dashawn Ramel Bledsoe</a:t>
            </a:r>
            <a:endParaRPr lang="en-US" sz="650" dirty="0"/>
          </a:p>
        </p:txBody>
      </p:sp>
      <p:sp>
        <p:nvSpPr>
          <p:cNvPr id="86" name="Text 79"/>
          <p:cNvSpPr/>
          <p:nvPr/>
        </p:nvSpPr>
        <p:spPr>
          <a:xfrm>
            <a:off x="6177558" y="1767185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0"/>
          <p:cNvSpPr/>
          <p:nvPr/>
        </p:nvSpPr>
        <p:spPr>
          <a:xfrm>
            <a:off x="6258074" y="1812131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84425" y="1838483"/>
            <a:ext cx="132588" cy="132588"/>
          </a:xfrm>
          <a:prstGeom prst="rect">
            <a:avLst/>
          </a:prstGeom>
        </p:spPr>
      </p:pic>
      <p:sp>
        <p:nvSpPr>
          <p:cNvPr id="89" name="Text 81"/>
          <p:cNvSpPr/>
          <p:nvPr/>
        </p:nvSpPr>
        <p:spPr>
          <a:xfrm>
            <a:off x="6508105" y="1851422"/>
            <a:ext cx="4092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560" dirty="0"/>
          </a:p>
        </p:txBody>
      </p:sp>
      <p:sp>
        <p:nvSpPr>
          <p:cNvPr id="90" name="Text 82"/>
          <p:cNvSpPr/>
          <p:nvPr/>
        </p:nvSpPr>
        <p:spPr>
          <a:xfrm>
            <a:off x="6944916" y="1842790"/>
            <a:ext cx="60982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niblscoin.com</a:t>
            </a:r>
            <a:endParaRPr lang="en-US" sz="650" dirty="0"/>
          </a:p>
        </p:txBody>
      </p:sp>
      <p:sp>
        <p:nvSpPr>
          <p:cNvPr id="91" name="Text 83"/>
          <p:cNvSpPr/>
          <p:nvPr/>
        </p:nvSpPr>
        <p:spPr>
          <a:xfrm>
            <a:off x="6177558" y="2085529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4"/>
          <p:cNvSpPr/>
          <p:nvPr/>
        </p:nvSpPr>
        <p:spPr>
          <a:xfrm>
            <a:off x="6258074" y="2130475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4425" y="2156826"/>
            <a:ext cx="132588" cy="132588"/>
          </a:xfrm>
          <a:prstGeom prst="rect">
            <a:avLst/>
          </a:prstGeom>
        </p:spPr>
      </p:pic>
      <p:sp>
        <p:nvSpPr>
          <p:cNvPr id="94" name="Text 85"/>
          <p:cNvSpPr/>
          <p:nvPr/>
        </p:nvSpPr>
        <p:spPr>
          <a:xfrm>
            <a:off x="6508105" y="2169765"/>
            <a:ext cx="4092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MINISITE</a:t>
            </a:r>
            <a:endParaRPr lang="en-US" sz="560" dirty="0"/>
          </a:p>
        </p:txBody>
      </p:sp>
      <p:sp>
        <p:nvSpPr>
          <p:cNvPr id="95" name="Text 86"/>
          <p:cNvSpPr/>
          <p:nvPr/>
        </p:nvSpPr>
        <p:spPr>
          <a:xfrm>
            <a:off x="6944916" y="2161133"/>
            <a:ext cx="8668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niblsclub.minisite.ai</a:t>
            </a:r>
            <a:endParaRPr lang="en-US" sz="650" dirty="0"/>
          </a:p>
        </p:txBody>
      </p:sp>
      <p:sp>
        <p:nvSpPr>
          <p:cNvPr id="96" name="Text 87"/>
          <p:cNvSpPr/>
          <p:nvPr/>
        </p:nvSpPr>
        <p:spPr>
          <a:xfrm>
            <a:off x="6177558" y="2403872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88"/>
          <p:cNvSpPr/>
          <p:nvPr/>
        </p:nvSpPr>
        <p:spPr>
          <a:xfrm>
            <a:off x="6258074" y="2448818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4425" y="2475169"/>
            <a:ext cx="132588" cy="132588"/>
          </a:xfrm>
          <a:prstGeom prst="rect">
            <a:avLst/>
          </a:prstGeom>
        </p:spPr>
      </p:pic>
      <p:sp>
        <p:nvSpPr>
          <p:cNvPr id="99" name="Text 89"/>
          <p:cNvSpPr/>
          <p:nvPr/>
        </p:nvSpPr>
        <p:spPr>
          <a:xfrm>
            <a:off x="6508105" y="2488109"/>
            <a:ext cx="4127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560" dirty="0"/>
          </a:p>
        </p:txBody>
      </p:sp>
      <p:sp>
        <p:nvSpPr>
          <p:cNvPr id="100" name="Text 90"/>
          <p:cNvSpPr/>
          <p:nvPr/>
        </p:nvSpPr>
        <p:spPr>
          <a:xfrm>
            <a:off x="6948041" y="2485281"/>
            <a:ext cx="174794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Intelligent Blockchain League Sport</a:t>
            </a:r>
            <a:endParaRPr lang="en-US" sz="590" dirty="0"/>
          </a:p>
        </p:txBody>
      </p:sp>
      <p:sp>
        <p:nvSpPr>
          <p:cNvPr id="101" name="Text 91"/>
          <p:cNvSpPr/>
          <p:nvPr/>
        </p:nvSpPr>
        <p:spPr>
          <a:xfrm>
            <a:off x="6177558" y="2722215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92"/>
          <p:cNvSpPr/>
          <p:nvPr/>
        </p:nvSpPr>
        <p:spPr>
          <a:xfrm>
            <a:off x="6258074" y="2767161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84425" y="2793513"/>
            <a:ext cx="132588" cy="132588"/>
          </a:xfrm>
          <a:prstGeom prst="rect">
            <a:avLst/>
          </a:prstGeom>
        </p:spPr>
      </p:pic>
      <p:sp>
        <p:nvSpPr>
          <p:cNvPr id="104" name="Text 93"/>
          <p:cNvSpPr/>
          <p:nvPr/>
        </p:nvSpPr>
        <p:spPr>
          <a:xfrm>
            <a:off x="6508105" y="2806452"/>
            <a:ext cx="4092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560" dirty="0"/>
          </a:p>
        </p:txBody>
      </p:sp>
      <p:sp>
        <p:nvSpPr>
          <p:cNvPr id="105" name="Text 94"/>
          <p:cNvSpPr/>
          <p:nvPr/>
        </p:nvSpPr>
        <p:spPr>
          <a:xfrm>
            <a:off x="6944916" y="2803624"/>
            <a:ext cx="142313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github.com/drb-apes/research-blei-e</a:t>
            </a:r>
            <a:endParaRPr lang="en-US" sz="590" dirty="0"/>
          </a:p>
        </p:txBody>
      </p:sp>
      <p:sp>
        <p:nvSpPr>
          <p:cNvPr id="106" name="Text 95"/>
          <p:cNvSpPr/>
          <p:nvPr/>
        </p:nvSpPr>
        <p:spPr>
          <a:xfrm>
            <a:off x="6177558" y="3040559"/>
            <a:ext cx="2622352" cy="275183"/>
          </a:xfrm>
          <a:prstGeom prst="roundRect">
            <a:avLst>
              <a:gd name="adj" fmla="val 179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96"/>
          <p:cNvSpPr/>
          <p:nvPr/>
        </p:nvSpPr>
        <p:spPr>
          <a:xfrm>
            <a:off x="6258074" y="3085505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00D4FF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84425" y="3111856"/>
            <a:ext cx="132588" cy="132588"/>
          </a:xfrm>
          <a:prstGeom prst="rect">
            <a:avLst/>
          </a:prstGeom>
        </p:spPr>
      </p:pic>
      <p:sp>
        <p:nvSpPr>
          <p:cNvPr id="109" name="Text 97"/>
          <p:cNvSpPr/>
          <p:nvPr/>
        </p:nvSpPr>
        <p:spPr>
          <a:xfrm>
            <a:off x="6508105" y="3124795"/>
            <a:ext cx="4092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endParaRPr lang="en-US" sz="560" dirty="0"/>
          </a:p>
        </p:txBody>
      </p:sp>
      <p:sp>
        <p:nvSpPr>
          <p:cNvPr id="110" name="Text 98"/>
          <p:cNvSpPr/>
          <p:nvPr/>
        </p:nvSpPr>
        <p:spPr>
          <a:xfrm>
            <a:off x="6944916" y="3116163"/>
            <a:ext cx="140333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82-3957690  ·  Queens, New York</a:t>
            </a:r>
            <a:endParaRPr lang="en-US" sz="650" dirty="0"/>
          </a:p>
        </p:txBody>
      </p:sp>
      <p:sp>
        <p:nvSpPr>
          <p:cNvPr id="111" name="Text 99"/>
          <p:cNvSpPr/>
          <p:nvPr/>
        </p:nvSpPr>
        <p:spPr>
          <a:xfrm>
            <a:off x="6177558" y="3386733"/>
            <a:ext cx="2622352" cy="363587"/>
          </a:xfrm>
          <a:prstGeom prst="roundRect">
            <a:avLst>
              <a:gd name="adj" fmla="val 17814"/>
            </a:avLst>
          </a:prstGeom>
          <a:gradFill rotWithShape="1">
            <a:gsLst>
              <a:gs pos="0">
                <a:srgbClr val="00D4FF">
                  <a:alpha val="12000"/>
                </a:srgbClr>
              </a:gs>
              <a:gs pos="100000">
                <a:srgbClr val="00D4FF">
                  <a:alpha val="6000"/>
                </a:srgbClr>
              </a:gs>
            </a:gsLst>
            <a:lin ang="0" scaled="1"/>
          </a:gra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80109" y="3502232"/>
            <a:ext cx="132588" cy="132588"/>
          </a:xfrm>
          <a:prstGeom prst="rect">
            <a:avLst/>
          </a:prstGeom>
        </p:spPr>
      </p:pic>
      <p:sp>
        <p:nvSpPr>
          <p:cNvPr id="113" name="Text 100"/>
          <p:cNvSpPr/>
          <p:nvPr/>
        </p:nvSpPr>
        <p:spPr>
          <a:xfrm>
            <a:off x="6476405" y="3453408"/>
            <a:ext cx="21740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37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INVEST?</a:t>
            </a:r>
            <a:endParaRPr lang="en-US" sz="620" dirty="0"/>
          </a:p>
        </p:txBody>
      </p:sp>
      <p:sp>
        <p:nvSpPr>
          <p:cNvPr id="114" name="Text 101"/>
          <p:cNvSpPr/>
          <p:nvPr/>
        </p:nvSpPr>
        <p:spPr>
          <a:xfrm>
            <a:off x="6476405" y="3571429"/>
            <a:ext cx="217408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Dashawn · niblscoin.com · All 8 scenarios available</a:t>
            </a:r>
            <a:endParaRPr lang="en-US" sz="590" dirty="0"/>
          </a:p>
        </p:txBody>
      </p:sp>
      <p:sp>
        <p:nvSpPr>
          <p:cNvPr id="115" name="Text 102"/>
          <p:cNvSpPr/>
          <p:nvPr/>
        </p:nvSpPr>
        <p:spPr>
          <a:xfrm>
            <a:off x="0" y="4672459"/>
            <a:ext cx="9144000" cy="485172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50000">
                <a:srgbClr val="00D4FF">
                  <a:alpha val="4000"/>
                </a:srgbClr>
              </a:gs>
              <a:gs pos="100000">
                <a:srgbClr val="00D4FF">
                  <a:alpha val="8000"/>
                </a:srgbClr>
              </a:gs>
            </a:gsLst>
            <a:lin ang="0" scaled="1"/>
          </a:gradFill>
          <a:ln/>
        </p:spPr>
        <p:txBody>
          <a:bodyPr wrap="none" lIns="342900" tIns="0" rIns="342900" bIns="0" rtlCol="0" anchor="ctr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00D4FF"/>
                </a:solidFill>
                <a:effectLst>
                  <a:glow rad="714375">
                    <a:srgbClr val="00D4FF">
                      <a:alpha val="10500"/>
                    </a:srgb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DATA · INTELLIGENCE · EQUITY · PERFORMANCE · VALUE  —  NIBLS: THE FUTURE IS MEASURABLE</a:t>
            </a:r>
            <a:endParaRPr lang="en-US" sz="900" dirty="0"/>
          </a:p>
        </p:txBody>
      </p:sp>
      <p:sp>
        <p:nvSpPr>
          <p:cNvPr id="116" name="Text 103"/>
          <p:cNvSpPr/>
          <p:nvPr/>
        </p:nvSpPr>
        <p:spPr>
          <a:xfrm>
            <a:off x="0" y="4672459"/>
            <a:ext cx="9144000" cy="9525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2026-07-06T05:37:12Z</dcterms:created>
  <dcterms:modified xsi:type="dcterms:W3CDTF">2026-07-06T05:37:12Z</dcterms:modified>
</cp:coreProperties>
</file>